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Projected bank balance, next 60 days (EUR)</a:t>
            </a:r>
          </a:p>
        </c:rich>
      </c:tx>
      <c:layout/>
      <c:overlay val="0"/>
    </c:title>
    <c:autoTitleDeleted val="0"/>
    <c:plotArea>
      <c:layout/>
      <c:lineChart>
        <c:varyColors val="0"/>
        <c:ser>
          <c:idx val="0"/>
          <c:order val="0"/>
          <c:tx>
            <c:strRef>
              <c:f>Sheet1!$B$1</c:f>
              <c:strCache>
                <c:ptCount val="1"/>
                <c:pt idx="0">
                  <c:v>Projected bank balance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Baseline vs "Take Ember Seasonal Bridge" (EUR)</a:t>
            </a:r>
          </a:p>
        </c:rich>
      </c:tx>
      <c:layout/>
      <c:overlay val="0"/>
    </c:title>
    <c:autoTitleDeleted val="0"/>
    <c:plotArea>
      <c:layout/>
      <c:lineChart>
        <c:varyColors val="0"/>
        <c:ser>
          <c:idx val="0"/>
          <c:order val="0"/>
          <c:tx>
            <c:strRef>
              <c:f>Sheet1!$B$1</c:f>
              <c:strCache>
                <c:ptCount val="1"/>
                <c:pt idx="0">
                  <c:v>Today's projection</c:v>
                </c:pt>
              </c:strCache>
            </c:strRef>
          </c:tx>
          <c:spPr>
            <a:solidFill>
              <a:srgbClr val="A39C90"/>
            </a:solidFill>
            <a:ln w="34925" cap="flat">
              <a:solidFill>
                <a:srgbClr val="A39C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9C90"/>
              </a:solidFill>
              <a:ln w="9525" cap="flat">
                <a:solidFill>
                  <a:srgbClr val="A39C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ser>
          <c:idx val="1"/>
          <c:order val="1"/>
          <c:tx>
            <c:strRef>
              <c:f>Sheet1!$C$1</c:f>
              <c:strCache>
                <c:ptCount val="1"/>
                <c:pt idx="0">
                  <c:v>Take Ember Seasonal Bridge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Sheet1!$C$2:$C$22</c:f>
              <c:numCache>
                <c:formatCode>General</c:formatCode>
                <c:ptCount val="21"/>
                <c:pt idx="0">
                  <c:v>2862</c:v>
                </c:pt>
                <c:pt idx="1">
                  <c:v>2213</c:v>
                </c:pt>
                <c:pt idx="2">
                  <c:v>7664</c:v>
                </c:pt>
                <c:pt idx="3">
                  <c:v>6844</c:v>
                </c:pt>
                <c:pt idx="4">
                  <c:v>10763</c:v>
                </c:pt>
                <c:pt idx="5">
                  <c:v>3590</c:v>
                </c:pt>
                <c:pt idx="6">
                  <c:v>3385</c:v>
                </c:pt>
                <c:pt idx="7">
                  <c:v>1616</c:v>
                </c:pt>
                <c:pt idx="8">
                  <c:v>6195</c:v>
                </c:pt>
                <c:pt idx="9">
                  <c:v>5877</c:v>
                </c:pt>
                <c:pt idx="10">
                  <c:v>5545</c:v>
                </c:pt>
                <c:pt idx="11">
                  <c:v>3324</c:v>
                </c:pt>
                <c:pt idx="12">
                  <c:v>1015</c:v>
                </c:pt>
                <c:pt idx="13">
                  <c:v>5707</c:v>
                </c:pt>
                <c:pt idx="14">
                  <c:v>5476</c:v>
                </c:pt>
                <c:pt idx="15">
                  <c:v>5270</c:v>
                </c:pt>
                <c:pt idx="16">
                  <c:v>5034</c:v>
                </c:pt>
                <c:pt idx="17">
                  <c:v>4120</c:v>
                </c:pt>
                <c:pt idx="18">
                  <c:v>8304</c:v>
                </c:pt>
                <c:pt idx="19">
                  <c:v>7947</c:v>
                </c:pt>
                <c:pt idx="20">
                  <c:v>7698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legend>
      <c:legendPos val="b"/>
      <c:overlay val="0"/>
      <c:txPr>
        <a:bodyPr/>
        <a:lstStyle/>
        <a:p>
          <a:pPr>
            <a:defRPr sz="1100">
              <a:solidFill>
                <a:srgbClr val="5F594F"/>
              </a:solidFill>
            </a:defRPr>
          </a:pPr>
          <a:endParaRPr lang="en-US"/>
        </a:p>
      </c:txPr>
    </c:legend>
    <c:plotVisOnly val="1"/>
    <c:dispBlanksAs val="span"/>
  </c:chart>
  <c:spPr>
    <a:solidFill>
      <a:srgbClr val="F4EFE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Mean error under stress, % of monthly revenue</a:t>
            </a:r>
          </a:p>
        </c:rich>
      </c:tx>
      <c:layout/>
      <c:overlay val="0"/>
    </c:title>
    <c:autoTitleDeleted val="0"/>
    <c:plotArea>
      <c:layout/>
      <c:barChart>
        <c:barDir val="bar"/>
        <c:grouping val="clustered"/>
        <c:varyColors val="0"/>
        <c:ser>
          <c:idx val="0"/>
          <c:order val="0"/>
          <c:tx>
            <c:strRef>
              <c:f>Sheet1!$B$1</c:f>
              <c:strCache>
                <c:ptCount val="1"/>
                <c:pt idx="0">
                  <c:v>Mean forecast error</c:v>
                </c:pt>
              </c:strCache>
            </c:strRef>
          </c:tx>
          <c:spPr>
            <a:solidFill>
              <a:srgbClr val="141414"/>
            </a:solidFill>
            <a:effectLst/>
          </c:spPr>
          <c:invertIfNegative val="0"/>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cat>
            <c:multiLvlStrRef>
              <c:f>Sheet1!$A$2:$A$6</c:f>
              <c:multiLvlStrCache>
                <c:ptCount val="5"/>
                <c:lvl>
                  <c:pt idx="0">
                    <c:v>Same process the forecaster assumes</c:v>
                  </c:pt>
                  <c:pt idx="1">
                    <c:v>Daily sales twice as noisy (sd 0.16 -&gt; 0.30)</c:v>
                  </c:pt>
                  <c:pt idx="2">
                    <c:v>A seasonal pattern the forecaster does not know</c:v>
                  </c:pt>
                  <c:pt idx="3">
                    <c:v>Payouts arrive 0-3 days late</c:v>
                  </c:pt>
                  <c:pt idx="4">
                    <c:v>All three at once</c:v>
                  </c:pt>
                </c:lvl>
              </c:multiLvlStrCache>
            </c:multiLvlStrRef>
          </c:cat>
          <c:val>
            <c:numRef>
              <c:f>Sheet1!$B$2:$B$6</c:f>
              <c:numCache>
                <c:formatCode>General</c:formatCode>
                <c:ptCount val="5"/>
                <c:pt idx="0">
                  <c:v>3.1</c:v>
                </c:pt>
                <c:pt idx="1">
                  <c:v>4.4</c:v>
                </c:pt>
                <c:pt idx="2">
                  <c:v>8.3</c:v>
                </c:pt>
                <c:pt idx="3">
                  <c:v>19.4</c:v>
                </c:pt>
                <c:pt idx="4">
                  <c:v>26.6</c:v>
                </c:pt>
              </c:numCache>
            </c:numRef>
          </c:val>
        </c:ser>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small online sellers can have money left over every month and still be illiquid, because marketplaces hold their money. The agent finds the gap, tests every option by simulation, and is architecturally unable to act without human approval. Everything runs on simulated data. The dots along the bottom of every slide are the payout queue: they reach the bank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over after all regular payments' is deliberate wording: it includes her loan repayment, which is a cash outflow but not an accounting expense, so it is not called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'why SMEs': the credit gap is well known, the advice gap is not, and the advice gap is the one an AI can close at near-zero marginal cost. Online sellers are a wedge, not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which numbers are real: the enterprise counts, the online-selling rate and the financing gap are published by the European Commission, Eurostat and the World Bank. We deliberately do not estimate how many micro-businesses sell online, because Eurostat does not survey firms under ten people. The price and the deployment size are assumptions. If asked 'what if the deploying bank is itself a lender?': its own products go through the same eligibility check and the same simulation as every other product, are labelled as the host's own, and the ranking is by simulated cost, not by who deployed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early-payout lever names the payout that lands after the squeeze starts, and says plainly that it covers the first dip but not the stock bill, because that payout is already counted in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early version of our own engine got this wrong. We separated the two questions, then added simulation-based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moment: run 'what if I pay the supplier 3 weeks late?' in the chat, then the same in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matching does not solve prompt injection and we don't claim it does. The permission model bounds the damage: an injection can waste a turn, but it can't move money. Full detail is in the appendix and docs/SECURITY.md.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WeBank figures are WeBank's own, from its March 2026 release, and are in data/market.json with the link. The point is distribution: we are an advisory layer an institution can deploy, not a lender competing with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FINTECHATHON 2026  ·  INTERNATIONAL TRACK  ·  TOPIC E</a:t>
            </a:r>
            <a:endParaRPr lang="en-US" sz="1100" dirty="0"/>
          </a:p>
        </p:txBody>
      </p:sp>
      <p:sp>
        <p:nvSpPr>
          <p:cNvPr id="3" name="Text 1"/>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4" name="Text 2"/>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5" name="Shape 3"/>
          <p:cNvSpPr/>
          <p:nvPr/>
        </p:nvSpPr>
        <p:spPr>
          <a:xfrm>
            <a:off x="4572000" y="6528816"/>
            <a:ext cx="3063240" cy="0"/>
          </a:xfrm>
          <a:prstGeom prst="line">
            <a:avLst/>
          </a:prstGeom>
          <a:noFill/>
          <a:ln w="12700">
            <a:solidFill>
              <a:srgbClr val="D6CCBA"/>
            </a:solidFill>
            <a:prstDash val="solid"/>
          </a:ln>
        </p:spPr>
      </p:sp>
      <p:sp>
        <p:nvSpPr>
          <p:cNvPr id="6" name="Shape 4"/>
          <p:cNvSpPr/>
          <p:nvPr/>
        </p:nvSpPr>
        <p:spPr>
          <a:xfrm>
            <a:off x="4503420" y="6460236"/>
            <a:ext cx="137160" cy="137160"/>
          </a:xfrm>
          <a:prstGeom prst="ellipse">
            <a:avLst/>
          </a:prstGeom>
          <a:solidFill>
            <a:srgbClr val="FF5A1F"/>
          </a:solidFill>
          <a:ln/>
        </p:spPr>
      </p:sp>
      <p:sp>
        <p:nvSpPr>
          <p:cNvPr id="7" name="Shape 5"/>
          <p:cNvSpPr/>
          <p:nvPr/>
        </p:nvSpPr>
        <p:spPr>
          <a:xfrm>
            <a:off x="4795266" y="6496812"/>
            <a:ext cx="64008" cy="64008"/>
          </a:xfrm>
          <a:prstGeom prst="ellipse">
            <a:avLst/>
          </a:prstGeom>
          <a:solidFill>
            <a:srgbClr val="D6CCBA"/>
          </a:solidFill>
          <a:ln/>
        </p:spPr>
      </p:sp>
      <p:sp>
        <p:nvSpPr>
          <p:cNvPr id="8" name="Shape 6"/>
          <p:cNvSpPr/>
          <p:nvPr/>
        </p:nvSpPr>
        <p:spPr>
          <a:xfrm>
            <a:off x="5050536" y="6496812"/>
            <a:ext cx="64008" cy="64008"/>
          </a:xfrm>
          <a:prstGeom prst="ellipse">
            <a:avLst/>
          </a:prstGeom>
          <a:solidFill>
            <a:srgbClr val="D6CCBA"/>
          </a:solidFill>
          <a:ln/>
        </p:spPr>
      </p:sp>
      <p:sp>
        <p:nvSpPr>
          <p:cNvPr id="9" name="Shape 7"/>
          <p:cNvSpPr/>
          <p:nvPr/>
        </p:nvSpPr>
        <p:spPr>
          <a:xfrm>
            <a:off x="5305806" y="6496812"/>
            <a:ext cx="64008" cy="64008"/>
          </a:xfrm>
          <a:prstGeom prst="ellipse">
            <a:avLst/>
          </a:prstGeom>
          <a:solidFill>
            <a:srgbClr val="D6CCBA"/>
          </a:solidFill>
          <a:ln/>
        </p:spPr>
      </p:sp>
      <p:sp>
        <p:nvSpPr>
          <p:cNvPr id="10" name="Shape 8"/>
          <p:cNvSpPr/>
          <p:nvPr/>
        </p:nvSpPr>
        <p:spPr>
          <a:xfrm>
            <a:off x="5561076" y="6496812"/>
            <a:ext cx="64008" cy="64008"/>
          </a:xfrm>
          <a:prstGeom prst="ellipse">
            <a:avLst/>
          </a:prstGeom>
          <a:solidFill>
            <a:srgbClr val="D6CCBA"/>
          </a:solidFill>
          <a:ln/>
        </p:spPr>
      </p:sp>
      <p:sp>
        <p:nvSpPr>
          <p:cNvPr id="11" name="Shape 9"/>
          <p:cNvSpPr/>
          <p:nvPr/>
        </p:nvSpPr>
        <p:spPr>
          <a:xfrm>
            <a:off x="5816346" y="6496812"/>
            <a:ext cx="64008" cy="64008"/>
          </a:xfrm>
          <a:prstGeom prst="ellipse">
            <a:avLst/>
          </a:prstGeom>
          <a:solidFill>
            <a:srgbClr val="D6CCBA"/>
          </a:solidFill>
          <a:ln/>
        </p:spPr>
      </p:sp>
      <p:sp>
        <p:nvSpPr>
          <p:cNvPr id="12" name="Shape 10"/>
          <p:cNvSpPr/>
          <p:nvPr/>
        </p:nvSpPr>
        <p:spPr>
          <a:xfrm>
            <a:off x="6071616" y="6496812"/>
            <a:ext cx="64008" cy="64008"/>
          </a:xfrm>
          <a:prstGeom prst="ellipse">
            <a:avLst/>
          </a:prstGeom>
          <a:solidFill>
            <a:srgbClr val="D6CCBA"/>
          </a:solidFill>
          <a:ln/>
        </p:spPr>
      </p:sp>
      <p:sp>
        <p:nvSpPr>
          <p:cNvPr id="13" name="Shape 11"/>
          <p:cNvSpPr/>
          <p:nvPr/>
        </p:nvSpPr>
        <p:spPr>
          <a:xfrm>
            <a:off x="6326886" y="6496812"/>
            <a:ext cx="64008" cy="64008"/>
          </a:xfrm>
          <a:prstGeom prst="ellipse">
            <a:avLst/>
          </a:prstGeom>
          <a:solidFill>
            <a:srgbClr val="D6CCBA"/>
          </a:solidFill>
          <a:ln/>
        </p:spPr>
      </p:sp>
      <p:sp>
        <p:nvSpPr>
          <p:cNvPr id="14" name="Shape 12"/>
          <p:cNvSpPr/>
          <p:nvPr/>
        </p:nvSpPr>
        <p:spPr>
          <a:xfrm>
            <a:off x="6582156" y="6496812"/>
            <a:ext cx="64008" cy="64008"/>
          </a:xfrm>
          <a:prstGeom prst="ellipse">
            <a:avLst/>
          </a:prstGeom>
          <a:solidFill>
            <a:srgbClr val="D6CCBA"/>
          </a:solidFill>
          <a:ln/>
        </p:spPr>
      </p:sp>
      <p:sp>
        <p:nvSpPr>
          <p:cNvPr id="15" name="Shape 13"/>
          <p:cNvSpPr/>
          <p:nvPr/>
        </p:nvSpPr>
        <p:spPr>
          <a:xfrm>
            <a:off x="6837426" y="6496812"/>
            <a:ext cx="64008" cy="64008"/>
          </a:xfrm>
          <a:prstGeom prst="ellipse">
            <a:avLst/>
          </a:prstGeom>
          <a:solidFill>
            <a:srgbClr val="D6CCBA"/>
          </a:solidFill>
          <a:ln/>
        </p:spPr>
      </p:sp>
      <p:sp>
        <p:nvSpPr>
          <p:cNvPr id="16" name="Shape 14"/>
          <p:cNvSpPr/>
          <p:nvPr/>
        </p:nvSpPr>
        <p:spPr>
          <a:xfrm>
            <a:off x="7092696" y="6496812"/>
            <a:ext cx="64008" cy="64008"/>
          </a:xfrm>
          <a:prstGeom prst="ellipse">
            <a:avLst/>
          </a:prstGeom>
          <a:solidFill>
            <a:srgbClr val="D6CCBA"/>
          </a:solidFill>
          <a:ln/>
        </p:spPr>
      </p:sp>
      <p:sp>
        <p:nvSpPr>
          <p:cNvPr id="17" name="Shape 15"/>
          <p:cNvSpPr/>
          <p:nvPr/>
        </p:nvSpPr>
        <p:spPr>
          <a:xfrm>
            <a:off x="7347966" y="6496812"/>
            <a:ext cx="64008" cy="64008"/>
          </a:xfrm>
          <a:prstGeom prst="ellipse">
            <a:avLst/>
          </a:prstGeom>
          <a:solidFill>
            <a:srgbClr val="D6CCBA"/>
          </a:solidFill>
          <a:ln/>
        </p:spPr>
      </p:sp>
      <p:sp>
        <p:nvSpPr>
          <p:cNvPr id="18" name="Shape 16"/>
          <p:cNvSpPr/>
          <p:nvPr/>
        </p:nvSpPr>
        <p:spPr>
          <a:xfrm>
            <a:off x="7603236" y="6496812"/>
            <a:ext cx="64008" cy="64008"/>
          </a:xfrm>
          <a:prstGeom prst="ellipse">
            <a:avLst/>
          </a:prstGeom>
          <a:solidFill>
            <a:srgbClr val="D6CCBA"/>
          </a:solidFill>
          <a:ln/>
        </p:spPr>
      </p:sp>
      <p:sp>
        <p:nvSpPr>
          <p:cNvPr id="19" name="Text 17"/>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0" name="Text 18"/>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01 / 13</a:t>
            </a:r>
            <a:endParaRPr lang="en-US" sz="1000" dirty="0"/>
          </a:p>
        </p:txBody>
      </p:sp>
      <p:sp>
        <p:nvSpPr>
          <p:cNvPr id="21" name="Text 19"/>
          <p:cNvSpPr txBox="1"/>
          <p:nvPr/>
        </p:nvSpPr>
        <p:spPr>
          <a:xfrm>
            <a:off x="594360" y="105156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YOUR MONEY IS</a:t>
            </a:r>
            <a:endParaRPr lang="en-US" sz="4400" dirty="0"/>
          </a:p>
        </p:txBody>
      </p:sp>
      <p:sp>
        <p:nvSpPr>
          <p:cNvPr id="22" name="Text 20"/>
          <p:cNvSpPr txBox="1"/>
          <p:nvPr/>
        </p:nvSpPr>
        <p:spPr>
          <a:xfrm>
            <a:off x="548640" y="1691640"/>
            <a:ext cx="8229600" cy="1463040"/>
          </a:xfrm>
          <a:prstGeom prst="rect">
            <a:avLst/>
          </a:prstGeom>
          <a:noFill/>
          <a:ln/>
        </p:spPr>
        <p:txBody>
          <a:bodyPr wrap="square" lIns="0" tIns="0" rIns="0" bIns="0" rtlCol="0" anchor="ctr"/>
          <a:lstStyle/>
          <a:p>
            <a:pPr indent="0" marL="0">
              <a:buNone/>
            </a:pPr>
            <a:r>
              <a:rPr lang="en-US" sz="12000" dirty="0">
                <a:solidFill>
                  <a:srgbClr val="141414"/>
                </a:solidFill>
                <a:latin typeface="Archivo Black" pitchFamily="34" charset="0"/>
                <a:ea typeface="Archivo Black" pitchFamily="34" charset="-122"/>
                <a:cs typeface="Archivo Black" pitchFamily="34" charset="-120"/>
              </a:rPr>
              <a:t>STUCK</a:t>
            </a:r>
            <a:endParaRPr lang="en-US" sz="12000" dirty="0"/>
          </a:p>
        </p:txBody>
      </p:sp>
      <p:sp>
        <p:nvSpPr>
          <p:cNvPr id="23" name="Text 21"/>
          <p:cNvSpPr txBox="1"/>
          <p:nvPr/>
        </p:nvSpPr>
        <p:spPr>
          <a:xfrm>
            <a:off x="594360" y="306324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IN </a:t>
            </a:r>
            <a:pPr indent="0" marL="0">
              <a:buNone/>
            </a:pPr>
            <a:r>
              <a:rPr lang="en-US" sz="4400" dirty="0">
                <a:solidFill>
                  <a:srgbClr val="FF5A1F"/>
                </a:solidFill>
                <a:latin typeface="Archivo Black" pitchFamily="34" charset="0"/>
                <a:ea typeface="Archivo Black" pitchFamily="34" charset="-122"/>
                <a:cs typeface="Archivo Black" pitchFamily="34" charset="-120"/>
              </a:rPr>
              <a:t>TRANSIT</a:t>
            </a:r>
            <a:endParaRPr lang="en-US" sz="4400" dirty="0"/>
          </a:p>
        </p:txBody>
      </p:sp>
      <p:sp>
        <p:nvSpPr>
          <p:cNvPr id="24" name="Text 22"/>
          <p:cNvSpPr txBox="1"/>
          <p:nvPr/>
        </p:nvSpPr>
        <p:spPr>
          <a:xfrm>
            <a:off x="594360" y="4178808"/>
            <a:ext cx="228600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178808"/>
            <a:ext cx="1536192" cy="228600"/>
          </a:xfrm>
          <a:prstGeom prst="rect">
            <a:avLst/>
          </a:prstGeom>
          <a:noFill/>
          <a:ln/>
        </p:spPr>
        <p:txBody>
          <a:bodyPr wrap="square" lIns="0" tIns="0" rIns="0" bIns="0" rtlCol="0" anchor="ctr"/>
          <a:lstStyle/>
          <a:p>
            <a:pPr algn="r" indent="0" marL="0">
              <a:buNone/>
            </a:pPr>
            <a:r>
              <a:rPr lang="en-US" sz="1050" b="1" spc="150" kern="0" dirty="0">
                <a:solidFill>
                  <a:srgbClr val="5F594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4617720"/>
            <a:ext cx="11000232" cy="0"/>
          </a:xfrm>
          <a:prstGeom prst="line">
            <a:avLst/>
          </a:prstGeom>
          <a:noFill/>
          <a:ln w="19050">
            <a:solidFill>
              <a:srgbClr val="141414"/>
            </a:solidFill>
            <a:prstDash val="solid"/>
          </a:ln>
        </p:spPr>
      </p:sp>
      <p:sp>
        <p:nvSpPr>
          <p:cNvPr id="27" name="Shape 25"/>
          <p:cNvSpPr/>
          <p:nvPr/>
        </p:nvSpPr>
        <p:spPr>
          <a:xfrm>
            <a:off x="1062076" y="4535424"/>
            <a:ext cx="164592" cy="164592"/>
          </a:xfrm>
          <a:prstGeom prst="ellipse">
            <a:avLst/>
          </a:prstGeom>
          <a:solidFill>
            <a:srgbClr val="FF5A1F"/>
          </a:solidFill>
          <a:ln/>
        </p:spPr>
      </p:sp>
      <p:sp>
        <p:nvSpPr>
          <p:cNvPr id="28" name="Shape 26"/>
          <p:cNvSpPr/>
          <p:nvPr/>
        </p:nvSpPr>
        <p:spPr>
          <a:xfrm>
            <a:off x="2712110" y="4535424"/>
            <a:ext cx="164592" cy="164592"/>
          </a:xfrm>
          <a:prstGeom prst="ellipse">
            <a:avLst/>
          </a:prstGeom>
          <a:solidFill>
            <a:srgbClr val="FF5A1F"/>
          </a:solidFill>
          <a:ln/>
        </p:spPr>
      </p:sp>
      <p:sp>
        <p:nvSpPr>
          <p:cNvPr id="29" name="Shape 27"/>
          <p:cNvSpPr/>
          <p:nvPr/>
        </p:nvSpPr>
        <p:spPr>
          <a:xfrm>
            <a:off x="4362145" y="4535424"/>
            <a:ext cx="164592" cy="164592"/>
          </a:xfrm>
          <a:prstGeom prst="ellipse">
            <a:avLst/>
          </a:prstGeom>
          <a:solidFill>
            <a:srgbClr val="FF5A1F"/>
          </a:solidFill>
          <a:ln/>
        </p:spPr>
      </p:sp>
      <p:sp>
        <p:nvSpPr>
          <p:cNvPr id="30" name="Shape 28"/>
          <p:cNvSpPr/>
          <p:nvPr/>
        </p:nvSpPr>
        <p:spPr>
          <a:xfrm>
            <a:off x="6012180" y="4535424"/>
            <a:ext cx="164592" cy="164592"/>
          </a:xfrm>
          <a:prstGeom prst="ellipse">
            <a:avLst/>
          </a:prstGeom>
          <a:solidFill>
            <a:srgbClr val="FF5A1F"/>
          </a:solidFill>
          <a:ln/>
        </p:spPr>
      </p:sp>
      <p:sp>
        <p:nvSpPr>
          <p:cNvPr id="31" name="Shape 29"/>
          <p:cNvSpPr/>
          <p:nvPr/>
        </p:nvSpPr>
        <p:spPr>
          <a:xfrm>
            <a:off x="11448288" y="4471416"/>
            <a:ext cx="292608" cy="292608"/>
          </a:xfrm>
          <a:prstGeom prst="ellipse">
            <a:avLst/>
          </a:prstGeom>
          <a:solidFill>
            <a:srgbClr val="F4EFE6"/>
          </a:solidFill>
          <a:ln w="19050">
            <a:solidFill>
              <a:srgbClr val="141414"/>
            </a:solidFill>
            <a:prstDash val="solid"/>
          </a:ln>
        </p:spPr>
      </p:sp>
      <p:sp>
        <p:nvSpPr>
          <p:cNvPr id="32" name="Text 30"/>
          <p:cNvSpPr txBox="1"/>
          <p:nvPr/>
        </p:nvSpPr>
        <p:spPr>
          <a:xfrm>
            <a:off x="594360" y="4800600"/>
            <a:ext cx="6400800" cy="274320"/>
          </a:xfrm>
          <a:prstGeom prst="rect">
            <a:avLst/>
          </a:prstGeom>
          <a:noFill/>
          <a:ln/>
        </p:spPr>
        <p:txBody>
          <a:bodyPr wrap="square" lIns="0" tIns="0" rIns="0" bIns="0" rtlCol="0" anchor="ctr"/>
          <a:lstStyle/>
          <a:p>
            <a:pPr indent="0" marL="0">
              <a:buNone/>
            </a:pPr>
            <a:r>
              <a:rPr lang="en-US" sz="1300" b="1" dirty="0">
                <a:solidFill>
                  <a:srgbClr val="C2410C"/>
                </a:solidFill>
                <a:latin typeface="Calibri" pitchFamily="34" charset="0"/>
                <a:ea typeface="Calibri" pitchFamily="34" charset="-122"/>
                <a:cs typeface="Calibri" pitchFamily="34" charset="-120"/>
              </a:rPr>
              <a:t>EUR 5,007</a:t>
            </a:r>
            <a:pPr indent="0" marL="0">
              <a:buNone/>
            </a:pPr>
            <a:r>
              <a:rPr lang="en-US" sz="1300" dirty="0">
                <a:solidFill>
                  <a:srgbClr val="5F594F"/>
                </a:solidFill>
                <a:latin typeface="Calibri" pitchFamily="34" charset="0"/>
                <a:ea typeface="Calibri" pitchFamily="34" charset="-122"/>
                <a:cs typeface="Calibri" pitchFamily="34" charset="-120"/>
              </a:rPr>
              <a:t> earned, waiting in the payout queue</a:t>
            </a:r>
            <a:endParaRPr lang="en-US" sz="1300" dirty="0"/>
          </a:p>
        </p:txBody>
      </p:sp>
      <p:sp>
        <p:nvSpPr>
          <p:cNvPr id="33" name="Text 31"/>
          <p:cNvSpPr txBox="1"/>
          <p:nvPr/>
        </p:nvSpPr>
        <p:spPr>
          <a:xfrm>
            <a:off x="7589520" y="4800600"/>
            <a:ext cx="4005072" cy="274320"/>
          </a:xfrm>
          <a:prstGeom prst="rect">
            <a:avLst/>
          </a:prstGeom>
          <a:noFill/>
          <a:ln/>
        </p:spPr>
        <p:txBody>
          <a:bodyPr wrap="square" lIns="0" tIns="0" rIns="0" bIns="0" rtlCol="0" anchor="ctr"/>
          <a:lstStyle/>
          <a:p>
            <a:pPr algn="r" indent="0" marL="0">
              <a:buNone/>
            </a:pPr>
            <a:r>
              <a:rPr lang="en-US" sz="1300" b="1" dirty="0">
                <a:solidFill>
                  <a:srgbClr val="141414"/>
                </a:solidFill>
                <a:latin typeface="Calibri" pitchFamily="34" charset="0"/>
                <a:ea typeface="Calibri" pitchFamily="34" charset="-122"/>
                <a:cs typeface="Calibri" pitchFamily="34" charset="-120"/>
              </a:rPr>
              <a:t>EUR 3,180</a:t>
            </a:r>
            <a:pPr algn="r" indent="0" marL="0">
              <a:buNone/>
            </a:pPr>
            <a:r>
              <a:rPr lang="en-US" sz="1300" dirty="0">
                <a:solidFill>
                  <a:srgbClr val="5F594F"/>
                </a:solidFill>
                <a:latin typeface="Calibri" pitchFamily="34" charset="0"/>
                <a:ea typeface="Calibri" pitchFamily="34" charset="-122"/>
                <a:cs typeface="Calibri" pitchFamily="34" charset="-120"/>
              </a:rPr>
              <a:t> in the bank</a:t>
            </a:r>
            <a:endParaRPr lang="en-US" sz="1300" dirty="0"/>
          </a:p>
        </p:txBody>
      </p:sp>
      <p:sp>
        <p:nvSpPr>
          <p:cNvPr id="34" name="Text 32"/>
          <p:cNvSpPr txBox="1"/>
          <p:nvPr/>
        </p:nvSpPr>
        <p:spPr>
          <a:xfrm>
            <a:off x="594360" y="5349240"/>
            <a:ext cx="9601200" cy="548640"/>
          </a:xfrm>
          <a:prstGeom prst="rect">
            <a:avLst/>
          </a:prstGeom>
          <a:noFill/>
          <a:ln/>
        </p:spPr>
        <p:txBody>
          <a:bodyPr wrap="square" lIns="0" tIns="0" rIns="0" bIns="0" rtlCol="0" anchor="ctr"/>
          <a:lstStyle/>
          <a:p>
            <a:pPr indent="0" marL="0">
              <a:lnSpc>
                <a:spcPct val="110000"/>
              </a:lnSpc>
              <a:buNone/>
            </a:pPr>
            <a:r>
              <a:rPr lang="en-US" sz="1400" b="1" dirty="0">
                <a:solidFill>
                  <a:srgbClr val="141414"/>
                </a:solidFill>
                <a:latin typeface="Calibri" pitchFamily="34" charset="0"/>
                <a:ea typeface="Calibri" pitchFamily="34" charset="-122"/>
                <a:cs typeface="Calibri" pitchFamily="34" charset="-120"/>
              </a:rPr>
              <a:t>SME Finance Copilot</a:t>
            </a:r>
            <a:pPr indent="0" marL="0">
              <a:lnSpc>
                <a:spcPct val="110000"/>
              </a:lnSpc>
              <a:buNone/>
            </a:pPr>
            <a:r>
              <a:rPr lang="en-US" sz="1400" dirty="0">
                <a:solidFill>
                  <a:srgbClr val="5F594F"/>
                </a:solidFill>
                <a:latin typeface="Calibri" pitchFamily="34" charset="0"/>
                <a:ea typeface="Calibri" pitchFamily="34" charset="-122"/>
                <a:cs typeface="Calibri" pitchFamily="34" charset="-120"/>
              </a:rPr>
              <a:t>: an AI finance copilot for small businesses whose money arrives late. It finds the gap, tests the real options, and cannot act without you.</a:t>
            </a:r>
            <a:endParaRPr lang="en-US" sz="1400" dirty="0"/>
          </a:p>
        </p:txBody>
      </p:sp>
      <p:sp>
        <p:nvSpPr>
          <p:cNvPr id="35" name="Text 33"/>
          <p:cNvSpPr txBox="1"/>
          <p:nvPr/>
        </p:nvSpPr>
        <p:spPr>
          <a:xfrm>
            <a:off x="594360" y="5925312"/>
            <a:ext cx="7315200" cy="274320"/>
          </a:xfrm>
          <a:prstGeom prst="rect">
            <a:avLst/>
          </a:prstGeom>
          <a:noFill/>
          <a:ln/>
        </p:spPr>
        <p:txBody>
          <a:bodyPr wrap="square" lIns="0" tIns="0" rIns="0" bIns="0" rtlCol="0" anchor="ctr"/>
          <a:lstStyle/>
          <a:p>
            <a:pPr indent="0" marL="0">
              <a:buNone/>
            </a:pPr>
            <a:r>
              <a:rPr lang="en-US" sz="1100" dirty="0">
                <a:solidFill>
                  <a:srgbClr val="5F594F"/>
                </a:solidFill>
                <a:latin typeface="Calibri" pitchFamily="34" charset="0"/>
                <a:ea typeface="Calibri" pitchFamily="34" charset="-122"/>
                <a:cs typeface="Calibri" pitchFamily="34" charset="-120"/>
              </a:rPr>
              <a:t>Theme: AI as a Financial Participant  ·  All data simulated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94360" y="676656"/>
            <a:ext cx="11002975" cy="91440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MONEY LEFT OVER EVERY MONTH. ABOUT TO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MISS A PAYMENT.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58690" y="6460236"/>
            <a:ext cx="137160" cy="137160"/>
          </a:xfrm>
          <a:prstGeom prst="ellipse">
            <a:avLst/>
          </a:prstGeom>
          <a:solidFill>
            <a:srgbClr val="FF5A1F"/>
          </a:solidFill>
          <a:ln/>
        </p:spPr>
      </p:sp>
      <p:sp>
        <p:nvSpPr>
          <p:cNvPr id="9" name="Shape 7"/>
          <p:cNvSpPr/>
          <p:nvPr/>
        </p:nvSpPr>
        <p:spPr>
          <a:xfrm>
            <a:off x="5050536" y="6496812"/>
            <a:ext cx="64008" cy="64008"/>
          </a:xfrm>
          <a:prstGeom prst="ellipse">
            <a:avLst/>
          </a:prstGeom>
          <a:solidFill>
            <a:srgbClr val="D6CCBA"/>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02 / 13</a:t>
            </a:r>
            <a:endParaRPr lang="en-US" sz="1000" dirty="0"/>
          </a:p>
        </p:txBody>
      </p:sp>
      <p:sp>
        <p:nvSpPr>
          <p:cNvPr id="22" name="Text 20"/>
          <p:cNvSpPr txBox="1"/>
          <p:nvPr/>
        </p:nvSpPr>
        <p:spPr>
          <a:xfrm>
            <a:off x="594360" y="178308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Amara's Prints  ·  Berlin  ·  print-on-demand apparel</a:t>
            </a:r>
            <a:endParaRPr lang="en-US" sz="1250" dirty="0"/>
          </a:p>
        </p:txBody>
      </p:sp>
      <p:sp>
        <p:nvSpPr>
          <p:cNvPr id="23" name="Text 21"/>
          <p:cNvSpPr txBox="1"/>
          <p:nvPr/>
        </p:nvSpPr>
        <p:spPr>
          <a:xfrm>
            <a:off x="59436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10,991</a:t>
            </a:r>
            <a:endParaRPr lang="en-US" sz="3000" dirty="0"/>
          </a:p>
        </p:txBody>
      </p:sp>
      <p:sp>
        <p:nvSpPr>
          <p:cNvPr id="24" name="Text 22"/>
          <p:cNvSpPr txBox="1"/>
          <p:nvPr/>
        </p:nvSpPr>
        <p:spPr>
          <a:xfrm>
            <a:off x="59436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monthly revenue</a:t>
            </a:r>
            <a:endParaRPr lang="en-US" sz="1200" dirty="0"/>
          </a:p>
        </p:txBody>
      </p:sp>
      <p:sp>
        <p:nvSpPr>
          <p:cNvPr id="25" name="Text 23"/>
          <p:cNvSpPr txBox="1"/>
          <p:nvPr/>
        </p:nvSpPr>
        <p:spPr>
          <a:xfrm>
            <a:off x="352044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620</a:t>
            </a:r>
            <a:endParaRPr lang="en-US" sz="3000" dirty="0"/>
          </a:p>
        </p:txBody>
      </p:sp>
      <p:sp>
        <p:nvSpPr>
          <p:cNvPr id="26" name="Text 24"/>
          <p:cNvSpPr txBox="1"/>
          <p:nvPr/>
        </p:nvSpPr>
        <p:spPr>
          <a:xfrm>
            <a:off x="352044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left over monthly, after all regular payments incl. loan</a:t>
            </a:r>
            <a:endParaRPr lang="en-US" sz="1200" dirty="0"/>
          </a:p>
        </p:txBody>
      </p:sp>
      <p:sp>
        <p:nvSpPr>
          <p:cNvPr id="27" name="Text 25"/>
          <p:cNvSpPr txBox="1"/>
          <p:nvPr/>
        </p:nvSpPr>
        <p:spPr>
          <a:xfrm>
            <a:off x="594360" y="361188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3,180</a:t>
            </a:r>
            <a:endParaRPr lang="en-US" sz="3000" dirty="0"/>
          </a:p>
        </p:txBody>
      </p:sp>
      <p:sp>
        <p:nvSpPr>
          <p:cNvPr id="28" name="Text 26"/>
          <p:cNvSpPr txBox="1"/>
          <p:nvPr/>
        </p:nvSpPr>
        <p:spPr>
          <a:xfrm>
            <a:off x="59436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in the bank today</a:t>
            </a:r>
            <a:endParaRPr lang="en-US" sz="1200" dirty="0"/>
          </a:p>
        </p:txBody>
      </p:sp>
      <p:sp>
        <p:nvSpPr>
          <p:cNvPr id="29" name="Text 27"/>
          <p:cNvSpPr txBox="1"/>
          <p:nvPr/>
        </p:nvSpPr>
        <p:spPr>
          <a:xfrm>
            <a:off x="3520440" y="3611880"/>
            <a:ext cx="2743200" cy="457200"/>
          </a:xfrm>
          <a:prstGeom prst="rect">
            <a:avLst/>
          </a:prstGeom>
          <a:noFill/>
          <a:ln/>
        </p:spPr>
        <p:txBody>
          <a:bodyPr wrap="square" lIns="0" tIns="0" rIns="0" bIns="0" rtlCol="0" anchor="b"/>
          <a:lstStyle/>
          <a:p>
            <a:pPr indent="0" marL="0">
              <a:buNone/>
            </a:pPr>
            <a:r>
              <a:rPr lang="en-US" sz="3000" dirty="0">
                <a:solidFill>
                  <a:srgbClr val="FF5A1F"/>
                </a:solidFill>
                <a:latin typeface="Archivo Black" pitchFamily="34" charset="0"/>
                <a:ea typeface="Archivo Black" pitchFamily="34" charset="-122"/>
                <a:cs typeface="Archivo Black" pitchFamily="34" charset="-120"/>
              </a:rPr>
              <a:t>EUR 6,800</a:t>
            </a:r>
            <a:endParaRPr lang="en-US" sz="3000" dirty="0"/>
          </a:p>
        </p:txBody>
      </p:sp>
      <p:sp>
        <p:nvSpPr>
          <p:cNvPr id="30" name="Text 28"/>
          <p:cNvSpPr txBox="1"/>
          <p:nvPr/>
        </p:nvSpPr>
        <p:spPr>
          <a:xfrm>
            <a:off x="352044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stock bill due 25 September</a:t>
            </a:r>
            <a:endParaRPr lang="en-US" sz="1200" dirty="0"/>
          </a:p>
        </p:txBody>
      </p:sp>
      <p:sp>
        <p:nvSpPr>
          <p:cNvPr id="31" name="Shape 29"/>
          <p:cNvSpPr/>
          <p:nvPr/>
        </p:nvSpPr>
        <p:spPr>
          <a:xfrm>
            <a:off x="6629400" y="1783080"/>
            <a:ext cx="4965192" cy="3337560"/>
          </a:xfrm>
          <a:prstGeom prst="rect">
            <a:avLst/>
          </a:prstGeom>
          <a:solidFill>
            <a:srgbClr val="141414"/>
          </a:solidFill>
          <a:ln/>
        </p:spPr>
      </p:sp>
      <p:sp>
        <p:nvSpPr>
          <p:cNvPr id="32" name="Text 30"/>
          <p:cNvSpPr txBox="1"/>
          <p:nvPr/>
        </p:nvSpPr>
        <p:spPr>
          <a:xfrm>
            <a:off x="6949440" y="2011680"/>
            <a:ext cx="4389120" cy="365760"/>
          </a:xfrm>
          <a:prstGeom prst="rect">
            <a:avLst/>
          </a:prstGeom>
          <a:noFill/>
          <a:ln/>
        </p:spPr>
        <p:txBody>
          <a:bodyPr wrap="square" lIns="0" tIns="0" rIns="0" bIns="0" rtlCol="0" anchor="ctr"/>
          <a:lstStyle/>
          <a:p>
            <a:pPr indent="0" marL="0">
              <a:buNone/>
            </a:pPr>
            <a:r>
              <a:rPr lang="en-US" sz="1800" dirty="0">
                <a:solidFill>
                  <a:srgbClr val="F4EFE6"/>
                </a:solidFill>
                <a:latin typeface="Archivo Black" pitchFamily="34" charset="0"/>
                <a:ea typeface="Archivo Black" pitchFamily="34" charset="-122"/>
                <a:cs typeface="Archivo Black" pitchFamily="34" charset="-120"/>
              </a:rPr>
              <a:t>SHE ISN'T BADLY RUN.</a:t>
            </a:r>
            <a:endParaRPr lang="en-US" sz="1800" dirty="0"/>
          </a:p>
        </p:txBody>
      </p:sp>
      <p:sp>
        <p:nvSpPr>
          <p:cNvPr id="33" name="Text 31"/>
          <p:cNvSpPr txBox="1"/>
          <p:nvPr/>
        </p:nvSpPr>
        <p:spPr>
          <a:xfrm>
            <a:off x="6949440" y="2359152"/>
            <a:ext cx="4389120" cy="365760"/>
          </a:xfrm>
          <a:prstGeom prst="rect">
            <a:avLst/>
          </a:prstGeom>
          <a:noFill/>
          <a:ln/>
        </p:spPr>
        <p:txBody>
          <a:bodyPr wrap="square" lIns="0" tIns="0" rIns="0" bIns="0" rtlCol="0" anchor="ctr"/>
          <a:lstStyle/>
          <a:p>
            <a:pPr indent="0" marL="0">
              <a:buNone/>
            </a:pPr>
            <a:r>
              <a:rPr lang="en-US" sz="1800" dirty="0">
                <a:solidFill>
                  <a:srgbClr val="FF5A1F"/>
                </a:solidFill>
                <a:latin typeface="Archivo Black" pitchFamily="34" charset="0"/>
                <a:ea typeface="Archivo Black" pitchFamily="34" charset="-122"/>
                <a:cs typeface="Archivo Black" pitchFamily="34" charset="-120"/>
              </a:rPr>
              <a:t>SHE IS ILLIQUID.</a:t>
            </a:r>
            <a:endParaRPr lang="en-US" sz="1800" dirty="0"/>
          </a:p>
        </p:txBody>
      </p:sp>
      <p:sp>
        <p:nvSpPr>
          <p:cNvPr id="34" name="Text 32"/>
          <p:cNvSpPr txBox="1"/>
          <p:nvPr/>
        </p:nvSpPr>
        <p:spPr>
          <a:xfrm>
            <a:off x="6949440" y="2926080"/>
            <a:ext cx="4389120" cy="2011680"/>
          </a:xfrm>
          <a:prstGeom prst="rect">
            <a:avLst/>
          </a:prstGeom>
          <a:noFill/>
          <a:ln/>
        </p:spPr>
        <p:txBody>
          <a:bodyPr wrap="square" lIns="0" tIns="0" rIns="0" bIns="0" rtlCol="0" anchor="t"/>
          <a:lstStyle/>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EUR 5,007 of her own money is already earned, waiting in the marketplace payout queue.</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Payouts run every 14 days, after a 10-day hold.</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That's 13.7 days of sales she can't touch.</a:t>
            </a:r>
            <a:endParaRPr lang="en-US" sz="1400" dirty="0"/>
          </a:p>
        </p:txBody>
      </p:sp>
      <p:sp>
        <p:nvSpPr>
          <p:cNvPr id="35" name="Text 33"/>
          <p:cNvSpPr txBox="1"/>
          <p:nvPr/>
        </p:nvSpPr>
        <p:spPr>
          <a:xfrm>
            <a:off x="594360" y="5440680"/>
            <a:ext cx="11002975" cy="548640"/>
          </a:xfrm>
          <a:prstGeom prst="rect">
            <a:avLst/>
          </a:prstGeom>
          <a:noFill/>
          <a:ln/>
        </p:spPr>
        <p:txBody>
          <a:bodyPr wrap="square" lIns="0" tIns="0" rIns="0" bIns="0" rtlCol="0" anchor="ctr"/>
          <a:lstStyle/>
          <a:p>
            <a:pPr indent="0" marL="0">
              <a:buNone/>
            </a:pPr>
            <a:r>
              <a:rPr lang="en-US" sz="1500" i="1" dirty="0">
                <a:solidFill>
                  <a:srgbClr val="5F594F"/>
                </a:solidFill>
                <a:latin typeface="Calibri" pitchFamily="34" charset="0"/>
                <a:ea typeface="Calibri" pitchFamily="34" charset="-122"/>
                <a:cs typeface="Calibri" pitchFamily="34" charset="-120"/>
              </a:rPr>
              <a:t>Her bank app shows a balance and her accountant sees a year of profit. Neither tells her she goes negative on 25 September.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FOCUS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WHY SMALL BUSINESSES, AND WHY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ONLINE SELLERS</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FIRST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13960" y="6460236"/>
            <a:ext cx="137160" cy="137160"/>
          </a:xfrm>
          <a:prstGeom prst="ellipse">
            <a:avLst/>
          </a:prstGeom>
          <a:solidFill>
            <a:srgbClr val="FF5A1F"/>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03 / 13</a:t>
            </a:r>
            <a:endParaRPr lang="en-US" sz="1000" dirty="0"/>
          </a:p>
        </p:txBody>
      </p:sp>
      <p:sp>
        <p:nvSpPr>
          <p:cNvPr id="22" name="Text 20"/>
          <p:cNvSpPr txBox="1"/>
          <p:nvPr/>
        </p:nvSpPr>
        <p:spPr>
          <a:xfrm>
            <a:off x="59436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99.8%</a:t>
            </a:r>
            <a:endParaRPr lang="en-US" sz="3400" dirty="0"/>
          </a:p>
        </p:txBody>
      </p:sp>
      <p:sp>
        <p:nvSpPr>
          <p:cNvPr id="23" name="Text 21"/>
          <p:cNvSpPr txBox="1"/>
          <p:nvPr/>
        </p:nvSpPr>
        <p:spPr>
          <a:xfrm>
            <a:off x="59436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enterprises are SMEs</a:t>
            </a:r>
            <a:endParaRPr lang="en-US" sz="1200" dirty="0"/>
          </a:p>
        </p:txBody>
      </p:sp>
      <p:sp>
        <p:nvSpPr>
          <p:cNvPr id="24" name="Text 22"/>
          <p:cNvSpPr txBox="1"/>
          <p:nvPr/>
        </p:nvSpPr>
        <p:spPr>
          <a:xfrm>
            <a:off x="338328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94.5%</a:t>
            </a:r>
            <a:endParaRPr lang="en-US" sz="3400" dirty="0"/>
          </a:p>
        </p:txBody>
      </p:sp>
      <p:sp>
        <p:nvSpPr>
          <p:cNvPr id="25" name="Text 23"/>
          <p:cNvSpPr txBox="1"/>
          <p:nvPr/>
        </p:nvSpPr>
        <p:spPr>
          <a:xfrm>
            <a:off x="338328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those are micro-businesses</a:t>
            </a:r>
            <a:endParaRPr lang="en-US" sz="1200" dirty="0"/>
          </a:p>
        </p:txBody>
      </p:sp>
      <p:sp>
        <p:nvSpPr>
          <p:cNvPr id="26" name="Text 24"/>
          <p:cNvSpPr txBox="1"/>
          <p:nvPr/>
        </p:nvSpPr>
        <p:spPr>
          <a:xfrm>
            <a:off x="617220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63.7%</a:t>
            </a:r>
            <a:endParaRPr lang="en-US" sz="3400" dirty="0"/>
          </a:p>
        </p:txBody>
      </p:sp>
      <p:sp>
        <p:nvSpPr>
          <p:cNvPr id="27" name="Text 25"/>
          <p:cNvSpPr txBox="1"/>
          <p:nvPr/>
        </p:nvSpPr>
        <p:spPr>
          <a:xfrm>
            <a:off x="617220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employment</a:t>
            </a:r>
            <a:endParaRPr lang="en-US" sz="1200" dirty="0"/>
          </a:p>
        </p:txBody>
      </p:sp>
      <p:sp>
        <p:nvSpPr>
          <p:cNvPr id="28" name="Text 26"/>
          <p:cNvSpPr txBox="1"/>
          <p:nvPr/>
        </p:nvSpPr>
        <p:spPr>
          <a:xfrm>
            <a:off x="896112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51.7%</a:t>
            </a:r>
            <a:endParaRPr lang="en-US" sz="3400" dirty="0"/>
          </a:p>
        </p:txBody>
      </p:sp>
      <p:sp>
        <p:nvSpPr>
          <p:cNvPr id="29" name="Text 27"/>
          <p:cNvSpPr txBox="1"/>
          <p:nvPr/>
        </p:nvSpPr>
        <p:spPr>
          <a:xfrm>
            <a:off x="896112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value added</a:t>
            </a:r>
            <a:endParaRPr lang="en-US" sz="1200" dirty="0"/>
          </a:p>
        </p:txBody>
      </p:sp>
      <p:sp>
        <p:nvSpPr>
          <p:cNvPr id="30" name="Shape 28"/>
          <p:cNvSpPr/>
          <p:nvPr/>
        </p:nvSpPr>
        <p:spPr>
          <a:xfrm>
            <a:off x="594360" y="3090672"/>
            <a:ext cx="11002975" cy="0"/>
          </a:xfrm>
          <a:prstGeom prst="line">
            <a:avLst/>
          </a:prstGeom>
          <a:noFill/>
          <a:ln w="9525">
            <a:solidFill>
              <a:srgbClr val="D6CCBA"/>
            </a:solidFill>
            <a:prstDash val="solid"/>
          </a:ln>
        </p:spPr>
      </p:sp>
      <p:sp>
        <p:nvSpPr>
          <p:cNvPr id="31" name="Text 29"/>
          <p:cNvSpPr txBox="1"/>
          <p:nvPr/>
        </p:nvSpPr>
        <p:spPr>
          <a:xfrm>
            <a:off x="594360" y="320040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1325880" y="3218688"/>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gap is advice, not just credit</a:t>
            </a:r>
            <a:endParaRPr lang="en-US" sz="1400" dirty="0"/>
          </a:p>
        </p:txBody>
      </p:sp>
      <p:sp>
        <p:nvSpPr>
          <p:cNvPr id="33" name="Text 31"/>
          <p:cNvSpPr txBox="1"/>
          <p:nvPr/>
        </p:nvSpPr>
        <p:spPr>
          <a:xfrm>
            <a:off x="5577840" y="3218688"/>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company with a CFO knows the squeeze is coming. A micro-business finds out when a payment bounces. That asymmetry is what an AI participant can close.</a:t>
            </a:r>
            <a:endParaRPr lang="en-US" sz="1300" dirty="0"/>
          </a:p>
        </p:txBody>
      </p:sp>
      <p:sp>
        <p:nvSpPr>
          <p:cNvPr id="34" name="Shape 32"/>
          <p:cNvSpPr/>
          <p:nvPr/>
        </p:nvSpPr>
        <p:spPr>
          <a:xfrm>
            <a:off x="594360" y="4069080"/>
            <a:ext cx="11002975" cy="0"/>
          </a:xfrm>
          <a:prstGeom prst="line">
            <a:avLst/>
          </a:prstGeom>
          <a:noFill/>
          <a:ln w="9525">
            <a:solidFill>
              <a:srgbClr val="D6CCBA"/>
            </a:solidFill>
            <a:prstDash val="solid"/>
          </a:ln>
        </p:spPr>
      </p:sp>
      <p:sp>
        <p:nvSpPr>
          <p:cNvPr id="35" name="Text 33"/>
          <p:cNvSpPr txBox="1"/>
          <p:nvPr/>
        </p:nvSpPr>
        <p:spPr>
          <a:xfrm>
            <a:off x="594360" y="417880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1325880" y="4197096"/>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Online sellers feel it most</a:t>
            </a:r>
            <a:endParaRPr lang="en-US" sz="1400" dirty="0"/>
          </a:p>
        </p:txBody>
      </p:sp>
      <p:sp>
        <p:nvSpPr>
          <p:cNvPr id="37" name="Text 35"/>
          <p:cNvSpPr txBox="1"/>
          <p:nvPr/>
        </p:nvSpPr>
        <p:spPr>
          <a:xfrm>
            <a:off x="5577840" y="4197096"/>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Every marketplace holds funds by design, so the squeeze returns at every stock purchase. And the data is transaction-shaped, so honest modelling is possible today.</a:t>
            </a:r>
            <a:endParaRPr lang="en-US" sz="1300" dirty="0"/>
          </a:p>
        </p:txBody>
      </p:sp>
      <p:sp>
        <p:nvSpPr>
          <p:cNvPr id="38" name="Shape 36"/>
          <p:cNvSpPr/>
          <p:nvPr/>
        </p:nvSpPr>
        <p:spPr>
          <a:xfrm>
            <a:off x="594360" y="5047488"/>
            <a:ext cx="11002975" cy="0"/>
          </a:xfrm>
          <a:prstGeom prst="line">
            <a:avLst/>
          </a:prstGeom>
          <a:noFill/>
          <a:ln w="9525">
            <a:solidFill>
              <a:srgbClr val="D6CCBA"/>
            </a:solidFill>
            <a:prstDash val="solid"/>
          </a:ln>
        </p:spPr>
      </p:sp>
      <p:sp>
        <p:nvSpPr>
          <p:cNvPr id="39" name="Text 37"/>
          <p:cNvSpPr txBox="1"/>
          <p:nvPr/>
        </p:nvSpPr>
        <p:spPr>
          <a:xfrm>
            <a:off x="594360" y="515721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1325880" y="5175504"/>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engine is not about e-commerce</a:t>
            </a:r>
            <a:endParaRPr lang="en-US" sz="1400" dirty="0"/>
          </a:p>
        </p:txBody>
      </p:sp>
      <p:sp>
        <p:nvSpPr>
          <p:cNvPr id="41" name="Text 39"/>
          <p:cNvSpPr txBox="1"/>
          <p:nvPr/>
        </p:nvSpPr>
        <p:spPr>
          <a:xfrm>
            <a:off x="5577840" y="5175504"/>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payout queue, card settlement and 60-day invoice terms are one mechanic: money earned and not yet received. A clinic waiting on insurers runs through the same model.</a:t>
            </a:r>
            <a:endParaRPr lang="en-US" sz="1300" dirty="0"/>
          </a:p>
        </p:txBody>
      </p:sp>
      <p:sp>
        <p:nvSpPr>
          <p:cNvPr id="42" name="Text 40"/>
          <p:cNvSpPr txBox="1"/>
          <p:nvPr/>
        </p:nvSpPr>
        <p:spPr>
          <a:xfrm>
            <a:off x="594360" y="6108192"/>
            <a:ext cx="11002975"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 European Commission, Annual Report on European SMEs 2025/2026, SME Performance Review.</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MARKET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A NARROW WEDGE INTO A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VERY LARGE GAP</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269230" y="6460236"/>
            <a:ext cx="137160" cy="137160"/>
          </a:xfrm>
          <a:prstGeom prst="ellipse">
            <a:avLst/>
          </a:prstGeom>
          <a:solidFill>
            <a:srgbClr val="FF5A1F"/>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04 / 13</a:t>
            </a:r>
            <a:endParaRPr lang="en-US" sz="1000" dirty="0"/>
          </a:p>
        </p:txBody>
      </p:sp>
      <p:sp>
        <p:nvSpPr>
          <p:cNvPr id="22" name="Text 20"/>
          <p:cNvSpPr txBox="1"/>
          <p:nvPr/>
        </p:nvSpPr>
        <p:spPr>
          <a:xfrm>
            <a:off x="594360"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START HERE</a:t>
            </a:r>
            <a:endParaRPr lang="en-US" sz="1050" dirty="0"/>
          </a:p>
        </p:txBody>
      </p:sp>
      <p:sp>
        <p:nvSpPr>
          <p:cNvPr id="23" name="Text 21"/>
          <p:cNvSpPr txBox="1"/>
          <p:nvPr/>
        </p:nvSpPr>
        <p:spPr>
          <a:xfrm>
            <a:off x="594360" y="2011680"/>
            <a:ext cx="3474720" cy="579120"/>
          </a:xfrm>
          <a:prstGeom prst="rect">
            <a:avLst/>
          </a:prstGeom>
          <a:noFill/>
          <a:ln/>
        </p:spPr>
        <p:txBody>
          <a:bodyPr wrap="square" lIns="0" tIns="0" rIns="0" bIns="0" rtlCol="0" anchor="b"/>
          <a:lstStyle/>
          <a:p>
            <a:pPr indent="0" marL="0">
              <a:buNone/>
            </a:pPr>
            <a:r>
              <a:rPr lang="en-US" sz="3800" dirty="0">
                <a:solidFill>
                  <a:srgbClr val="FF5A1F"/>
                </a:solidFill>
                <a:latin typeface="Archivo Black" pitchFamily="34" charset="0"/>
                <a:ea typeface="Archivo Black" pitchFamily="34" charset="-122"/>
                <a:cs typeface="Archivo Black" pitchFamily="34" charset="-120"/>
              </a:rPr>
              <a:t>21.9%</a:t>
            </a:r>
            <a:endParaRPr lang="en-US" sz="3800" dirty="0"/>
          </a:p>
        </p:txBody>
      </p:sp>
      <p:sp>
        <p:nvSpPr>
          <p:cNvPr id="24" name="Text 22"/>
          <p:cNvSpPr txBox="1"/>
          <p:nvPr/>
        </p:nvSpPr>
        <p:spPr>
          <a:xfrm>
            <a:off x="594360"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Marketplace sellers</a:t>
            </a:r>
            <a:endParaRPr lang="en-US" sz="1400" dirty="0"/>
          </a:p>
        </p:txBody>
      </p:sp>
      <p:sp>
        <p:nvSpPr>
          <p:cNvPr id="25" name="Text 23"/>
          <p:cNvSpPr txBox="1"/>
          <p:nvPr/>
        </p:nvSpPr>
        <p:spPr>
          <a:xfrm>
            <a:off x="594360"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small EU firms (10-49 staff) already sell online. Eurostat does not measure firms under 10, so we do not invent a count for our starting segment.</a:t>
            </a:r>
            <a:endParaRPr lang="en-US" sz="1200" dirty="0"/>
          </a:p>
        </p:txBody>
      </p:sp>
      <p:sp>
        <p:nvSpPr>
          <p:cNvPr id="26" name="Text 24"/>
          <p:cNvSpPr txBox="1"/>
          <p:nvPr/>
        </p:nvSpPr>
        <p:spPr>
          <a:xfrm>
            <a:off x="4325112"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ENGINE</a:t>
            </a:r>
            <a:endParaRPr lang="en-US" sz="1050" dirty="0"/>
          </a:p>
        </p:txBody>
      </p:sp>
      <p:sp>
        <p:nvSpPr>
          <p:cNvPr id="27" name="Text 25"/>
          <p:cNvSpPr txBox="1"/>
          <p:nvPr/>
        </p:nvSpPr>
        <p:spPr>
          <a:xfrm>
            <a:off x="4325112" y="2011680"/>
            <a:ext cx="3474720" cy="579120"/>
          </a:xfrm>
          <a:prstGeom prst="rect">
            <a:avLst/>
          </a:prstGeom>
          <a:noFill/>
          <a:ln/>
        </p:spPr>
        <p:txBody>
          <a:bodyPr wrap="square" lIns="0" tIns="0" rIns="0" bIns="0" rtlCol="0" anchor="b"/>
          <a:lstStyle/>
          <a:p>
            <a:pPr indent="0" marL="0">
              <a:buNone/>
            </a:pPr>
            <a:r>
              <a:rPr lang="en-US" sz="3800" dirty="0">
                <a:solidFill>
                  <a:srgbClr val="141414"/>
                </a:solidFill>
                <a:latin typeface="Archivo Black" pitchFamily="34" charset="0"/>
                <a:ea typeface="Archivo Black" pitchFamily="34" charset="-122"/>
                <a:cs typeface="Archivo Black" pitchFamily="34" charset="-120"/>
              </a:rPr>
              <a:t>32.2m</a:t>
            </a:r>
            <a:endParaRPr lang="en-US" sz="3800" dirty="0"/>
          </a:p>
        </p:txBody>
      </p:sp>
      <p:sp>
        <p:nvSpPr>
          <p:cNvPr id="28" name="Text 26"/>
          <p:cNvSpPr txBox="1"/>
          <p:nvPr/>
        </p:nvSpPr>
        <p:spPr>
          <a:xfrm>
            <a:off x="4325112"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Paid on a delay</a:t>
            </a:r>
            <a:endParaRPr lang="en-US" sz="1400" dirty="0"/>
          </a:p>
        </p:txBody>
      </p:sp>
      <p:sp>
        <p:nvSpPr>
          <p:cNvPr id="29" name="Text 27"/>
          <p:cNvSpPr txBox="1"/>
          <p:nvPr/>
        </p:nvSpPr>
        <p:spPr>
          <a:xfrm>
            <a:off x="4325112"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EU micro-enterprises. Card settlement, invoice terms and platform payouts are the same mechanic: a data-source problem, not a new forecaster.</a:t>
            </a:r>
            <a:endParaRPr lang="en-US" sz="1200" dirty="0"/>
          </a:p>
        </p:txBody>
      </p:sp>
      <p:sp>
        <p:nvSpPr>
          <p:cNvPr id="30" name="Text 28"/>
          <p:cNvSpPr txBox="1"/>
          <p:nvPr/>
        </p:nvSpPr>
        <p:spPr>
          <a:xfrm>
            <a:off x="8055864"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PROBLEM, BIGGER</a:t>
            </a:r>
            <a:endParaRPr lang="en-US" sz="1050" dirty="0"/>
          </a:p>
        </p:txBody>
      </p:sp>
      <p:sp>
        <p:nvSpPr>
          <p:cNvPr id="31" name="Text 29"/>
          <p:cNvSpPr txBox="1"/>
          <p:nvPr/>
        </p:nvSpPr>
        <p:spPr>
          <a:xfrm>
            <a:off x="8055864" y="2011680"/>
            <a:ext cx="347472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USD 5.7 trillion</a:t>
            </a:r>
            <a:endParaRPr lang="en-US" sz="3000" dirty="0"/>
          </a:p>
        </p:txBody>
      </p:sp>
      <p:sp>
        <p:nvSpPr>
          <p:cNvPr id="32" name="Text 30"/>
          <p:cNvSpPr txBox="1"/>
          <p:nvPr/>
        </p:nvSpPr>
        <p:spPr>
          <a:xfrm>
            <a:off x="8055864"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Unmet MSME finance</a:t>
            </a:r>
            <a:endParaRPr lang="en-US" sz="1400" dirty="0"/>
          </a:p>
        </p:txBody>
      </p:sp>
      <p:sp>
        <p:nvSpPr>
          <p:cNvPr id="33" name="Text 31"/>
          <p:cNvSpPr txBox="1"/>
          <p:nvPr/>
        </p:nvSpPr>
        <p:spPr>
          <a:xfrm>
            <a:off x="8055864"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across 119 emerging and developing economies, where micro-businesses are most of the employment and the least served.</a:t>
            </a:r>
            <a:endParaRPr lang="en-US" sz="1200" dirty="0"/>
          </a:p>
        </p:txBody>
      </p:sp>
      <p:sp>
        <p:nvSpPr>
          <p:cNvPr id="34" name="Shape 32"/>
          <p:cNvSpPr/>
          <p:nvPr/>
        </p:nvSpPr>
        <p:spPr>
          <a:xfrm>
            <a:off x="594360" y="4251960"/>
            <a:ext cx="5486400" cy="1600200"/>
          </a:xfrm>
          <a:prstGeom prst="rect">
            <a:avLst/>
          </a:prstGeom>
          <a:solidFill>
            <a:srgbClr val="EAE2D3"/>
          </a:solidFill>
          <a:ln/>
        </p:spPr>
      </p:sp>
      <p:sp>
        <p:nvSpPr>
          <p:cNvPr id="35" name="Text 33"/>
          <p:cNvSpPr txBox="1"/>
          <p:nvPr/>
        </p:nvSpPr>
        <p:spPr>
          <a:xfrm>
            <a:off x="868680" y="4407408"/>
            <a:ext cx="493776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HOW IT MAKES MONEY</a:t>
            </a:r>
            <a:endParaRPr lang="en-US" sz="1050" dirty="0"/>
          </a:p>
        </p:txBody>
      </p:sp>
      <p:sp>
        <p:nvSpPr>
          <p:cNvPr id="36" name="Text 34"/>
          <p:cNvSpPr txBox="1"/>
          <p:nvPr/>
        </p:nvSpPr>
        <p:spPr>
          <a:xfrm>
            <a:off x="868680" y="4681728"/>
            <a:ext cx="4983480" cy="1097280"/>
          </a:xfrm>
          <a:prstGeom prst="rect">
            <a:avLst/>
          </a:prstGeom>
          <a:noFill/>
          <a:ln/>
        </p:spPr>
        <p:txBody>
          <a:bodyPr wrap="square" lIns="0" tIns="0" rIns="0" bIns="0" rtlCol="0" anchor="t"/>
          <a:lstStyle/>
          <a:p>
            <a:pPr indent="0" marL="0">
              <a:lnSpc>
                <a:spcPct val="105000"/>
              </a:lnSpc>
              <a:buNone/>
            </a:pPr>
            <a:r>
              <a:rPr lang="en-US" sz="1200" b="1" dirty="0">
                <a:solidFill>
                  <a:srgbClr val="141414"/>
                </a:solidFill>
                <a:latin typeface="Calibri" pitchFamily="34" charset="0"/>
                <a:ea typeface="Calibri" pitchFamily="34" charset="-122"/>
                <a:cs typeface="Calibri" pitchFamily="34" charset="-120"/>
              </a:rPr>
              <a:t>The distributor pays, not the lender. </a:t>
            </a:r>
            <a:pPr indent="0" marL="0">
              <a:lnSpc>
                <a:spcPct val="105000"/>
              </a:lnSpc>
              <a:buNone/>
            </a:pPr>
            <a:r>
              <a:rPr lang="en-US" sz="1200" dirty="0">
                <a:solidFill>
                  <a:srgbClr val="141414"/>
                </a:solidFill>
                <a:latin typeface="Calibri" pitchFamily="34" charset="0"/>
                <a:ea typeface="Calibri" pitchFamily="34" charset="-122"/>
                <a:cs typeface="Calibri" pitchFamily="34" charset="-120"/>
              </a:rPr>
              <a:t>A bank, marketplace or accounting platform offers it to its businesses at EUR 8 per business per month. One deployment with 10k active sellers is EUR 960k a year. Both inputs are assumptions, labelled as such in data/market.json.</a:t>
            </a:r>
            <a:endParaRPr lang="en-US" sz="1200" dirty="0"/>
          </a:p>
        </p:txBody>
      </p:sp>
      <p:sp>
        <p:nvSpPr>
          <p:cNvPr id="37" name="Shape 35"/>
          <p:cNvSpPr/>
          <p:nvPr/>
        </p:nvSpPr>
        <p:spPr>
          <a:xfrm>
            <a:off x="6355080" y="4251960"/>
            <a:ext cx="5239512" cy="1600200"/>
          </a:xfrm>
          <a:prstGeom prst="rect">
            <a:avLst/>
          </a:prstGeom>
          <a:solidFill>
            <a:srgbClr val="141414"/>
          </a:solidFill>
          <a:ln/>
        </p:spPr>
      </p:sp>
      <p:sp>
        <p:nvSpPr>
          <p:cNvPr id="38" name="Text 36"/>
          <p:cNvSpPr txBox="1"/>
          <p:nvPr/>
        </p:nvSpPr>
        <p:spPr>
          <a:xfrm>
            <a:off x="6629400" y="4407408"/>
            <a:ext cx="4754880" cy="228600"/>
          </a:xfrm>
          <a:prstGeom prst="rect">
            <a:avLst/>
          </a:prstGeom>
          <a:noFill/>
          <a:ln/>
        </p:spPr>
        <p:txBody>
          <a:bodyPr wrap="square" lIns="0" tIns="0" rIns="0" bIns="0" rtlCol="0" anchor="ctr"/>
          <a:lstStyle/>
          <a:p>
            <a:pPr indent="0" marL="0">
              <a:buNone/>
            </a:pPr>
            <a:r>
              <a:rPr lang="en-US" sz="1050" b="1" spc="150" kern="0" dirty="0">
                <a:solidFill>
                  <a:srgbClr val="FF5A1F"/>
                </a:solidFill>
                <a:latin typeface="Calibri" pitchFamily="34" charset="0"/>
                <a:ea typeface="Calibri" pitchFamily="34" charset="-122"/>
                <a:cs typeface="Calibri" pitchFamily="34" charset="-120"/>
              </a:rPr>
              <a:t>WHAT WE REFUSE TO CHARGE FOR</a:t>
            </a:r>
            <a:endParaRPr lang="en-US" sz="1050" dirty="0"/>
          </a:p>
        </p:txBody>
      </p:sp>
      <p:sp>
        <p:nvSpPr>
          <p:cNvPr id="39" name="Text 37"/>
          <p:cNvSpPr txBox="1"/>
          <p:nvPr/>
        </p:nvSpPr>
        <p:spPr>
          <a:xfrm>
            <a:off x="6629400" y="4681728"/>
            <a:ext cx="4709160" cy="1097280"/>
          </a:xfrm>
          <a:prstGeom prst="rect">
            <a:avLst/>
          </a:prstGeom>
          <a:noFill/>
          <a:ln/>
        </p:spPr>
        <p:txBody>
          <a:bodyPr wrap="square" lIns="0" tIns="0" rIns="0" bIns="0" rtlCol="0" anchor="t"/>
          <a:lstStyle/>
          <a:p>
            <a:pPr indent="0" marL="0">
              <a:lnSpc>
                <a:spcPct val="105000"/>
              </a:lnSpc>
              <a:buNone/>
            </a:pPr>
            <a:r>
              <a:rPr lang="en-US" sz="1200" dirty="0">
                <a:solidFill>
                  <a:srgbClr val="F4EFE6"/>
                </a:solidFill>
                <a:latin typeface="Calibri" pitchFamily="34" charset="0"/>
                <a:ea typeface="Calibri" pitchFamily="34" charset="-122"/>
                <a:cs typeface="Calibri" pitchFamily="34" charset="-120"/>
              </a:rPr>
              <a:t>No referral fee from lenders. The moment placement can be bought, the ranking is for sale. It is also the only way a tool can honestly say: don't borrow, ask for an early payout instead.</a:t>
            </a:r>
            <a:endParaRPr lang="en-US" sz="1200" dirty="0"/>
          </a:p>
        </p:txBody>
      </p:sp>
      <p:sp>
        <p:nvSpPr>
          <p:cNvPr id="40" name="Text 38"/>
          <p:cNvSpPr txBox="1"/>
          <p:nvPr/>
        </p:nvSpPr>
        <p:spPr>
          <a:xfrm>
            <a:off x="594360" y="6035040"/>
            <a:ext cx="11002975" cy="27432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Sources: European Commission, Eurostat, World Bank Group. Every figure, measured or assumed, is listed with its method in data/market.json.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5A1F"/>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141414"/>
                </a:solidFill>
                <a:latin typeface="Calibri" pitchFamily="34" charset="0"/>
                <a:ea typeface="Calibri" pitchFamily="34" charset="-122"/>
                <a:cs typeface="Calibri" pitchFamily="34" charset="-120"/>
              </a:rPr>
              <a:t>CORE MECHANIC</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INSIGHT OTHER TOOLS </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MODEL AWAY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24500" y="6460236"/>
            <a:ext cx="137160" cy="137160"/>
          </a:xfrm>
          <a:prstGeom prst="ellipse">
            <a:avLst/>
          </a:prstGeom>
          <a:solidFill>
            <a:srgbClr val="FF5A1F"/>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05 / 13</a:t>
            </a:r>
            <a:endParaRPr lang="en-US" sz="1000" dirty="0"/>
          </a:p>
        </p:txBody>
      </p:sp>
      <p:sp>
        <p:nvSpPr>
          <p:cNvPr id="22" name="Text 20"/>
          <p:cNvSpPr txBox="1"/>
          <p:nvPr/>
        </p:nvSpPr>
        <p:spPr>
          <a:xfrm>
            <a:off x="594360" y="1600200"/>
            <a:ext cx="1051560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Consumer finance tools model one account. These businesses have two, and the crisis happens in the gap between them.</a:t>
            </a:r>
            <a:endParaRPr lang="en-US" sz="1500" dirty="0"/>
          </a:p>
        </p:txBody>
      </p:sp>
      <p:sp>
        <p:nvSpPr>
          <p:cNvPr id="23" name="Shape 21"/>
          <p:cNvSpPr/>
          <p:nvPr/>
        </p:nvSpPr>
        <p:spPr>
          <a:xfrm>
            <a:off x="594360" y="2286000"/>
            <a:ext cx="4663440" cy="2331720"/>
          </a:xfrm>
          <a:prstGeom prst="rect">
            <a:avLst/>
          </a:prstGeom>
          <a:solidFill>
            <a:srgbClr val="F4EFE6"/>
          </a:solidFill>
          <a:ln/>
        </p:spPr>
      </p:sp>
      <p:sp>
        <p:nvSpPr>
          <p:cNvPr id="24" name="Text 22"/>
          <p:cNvSpPr txBox="1"/>
          <p:nvPr/>
        </p:nvSpPr>
        <p:spPr>
          <a:xfrm>
            <a:off x="914400"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PLATFORM BALANCE</a:t>
            </a:r>
            <a:endParaRPr lang="en-US" sz="1800" dirty="0"/>
          </a:p>
        </p:txBody>
      </p:sp>
      <p:sp>
        <p:nvSpPr>
          <p:cNvPr id="25" name="Text 23"/>
          <p:cNvSpPr txBox="1"/>
          <p:nvPr/>
        </p:nvSpPr>
        <p:spPr>
          <a:xfrm>
            <a:off x="914400"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sales - fees - refunds - payouts</a:t>
            </a:r>
            <a:endParaRPr lang="en-US" sz="1200" dirty="0"/>
          </a:p>
        </p:txBody>
      </p:sp>
      <p:sp>
        <p:nvSpPr>
          <p:cNvPr id="26" name="Text 24"/>
          <p:cNvSpPr txBox="1"/>
          <p:nvPr/>
        </p:nvSpPr>
        <p:spPr>
          <a:xfrm>
            <a:off x="914400"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Money she has earned but can't spend. Released on the payout schedule, after the hold, minus a rolling reserve.</a:t>
            </a:r>
            <a:endParaRPr lang="en-US" sz="1300" dirty="0"/>
          </a:p>
        </p:txBody>
      </p:sp>
      <p:sp>
        <p:nvSpPr>
          <p:cNvPr id="27" name="Shape 25"/>
          <p:cNvSpPr/>
          <p:nvPr/>
        </p:nvSpPr>
        <p:spPr>
          <a:xfrm>
            <a:off x="6931152" y="2286000"/>
            <a:ext cx="4663440" cy="2331720"/>
          </a:xfrm>
          <a:prstGeom prst="rect">
            <a:avLst/>
          </a:prstGeom>
          <a:solidFill>
            <a:srgbClr val="F4EFE6"/>
          </a:solidFill>
          <a:ln/>
        </p:spPr>
      </p:sp>
      <p:sp>
        <p:nvSpPr>
          <p:cNvPr id="28" name="Text 26"/>
          <p:cNvSpPr txBox="1"/>
          <p:nvPr/>
        </p:nvSpPr>
        <p:spPr>
          <a:xfrm>
            <a:off x="7251192"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BANK BALANCE</a:t>
            </a:r>
            <a:endParaRPr lang="en-US" sz="1800" dirty="0"/>
          </a:p>
        </p:txBody>
      </p:sp>
      <p:sp>
        <p:nvSpPr>
          <p:cNvPr id="29" name="Text 27"/>
          <p:cNvSpPr txBox="1"/>
          <p:nvPr/>
        </p:nvSpPr>
        <p:spPr>
          <a:xfrm>
            <a:off x="7251192"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opening + payouts - expenses</a:t>
            </a:r>
            <a:endParaRPr lang="en-US" sz="1200" dirty="0"/>
          </a:p>
        </p:txBody>
      </p:sp>
      <p:sp>
        <p:nvSpPr>
          <p:cNvPr id="30" name="Text 28"/>
          <p:cNvSpPr txBox="1"/>
          <p:nvPr/>
        </p:nvSpPr>
        <p:spPr>
          <a:xfrm>
            <a:off x="7251192"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The only money that can pay a supplier. This is what the forecast projects, day by day.</a:t>
            </a:r>
            <a:endParaRPr lang="en-US" sz="1300" dirty="0"/>
          </a:p>
        </p:txBody>
      </p:sp>
      <p:sp>
        <p:nvSpPr>
          <p:cNvPr id="31" name="Shape 29"/>
          <p:cNvSpPr/>
          <p:nvPr/>
        </p:nvSpPr>
        <p:spPr>
          <a:xfrm>
            <a:off x="5440680" y="3154680"/>
            <a:ext cx="1280160" cy="502920"/>
          </a:xfrm>
          <a:prstGeom prst="rightArrow">
            <a:avLst/>
          </a:prstGeom>
          <a:solidFill>
            <a:srgbClr val="141414"/>
          </a:solidFill>
          <a:ln/>
        </p:spPr>
      </p:sp>
      <p:sp>
        <p:nvSpPr>
          <p:cNvPr id="32" name="Text 30"/>
          <p:cNvSpPr txBox="1"/>
          <p:nvPr/>
        </p:nvSpPr>
        <p:spPr>
          <a:xfrm>
            <a:off x="5303520" y="3730752"/>
            <a:ext cx="1554480" cy="54864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every 14 days, after a 10-day hold</a:t>
            </a:r>
            <a:endParaRPr lang="en-US" sz="1100" dirty="0"/>
          </a:p>
        </p:txBody>
      </p:sp>
      <p:sp>
        <p:nvSpPr>
          <p:cNvPr id="33" name="Text 31"/>
          <p:cNvSpPr txBox="1"/>
          <p:nvPr/>
        </p:nvSpPr>
        <p:spPr>
          <a:xfrm>
            <a:off x="594360" y="4983480"/>
            <a:ext cx="11002975" cy="731520"/>
          </a:xfrm>
          <a:prstGeom prst="rect">
            <a:avLst/>
          </a:prstGeom>
          <a:noFill/>
          <a:ln/>
        </p:spPr>
        <p:txBody>
          <a:bodyPr wrap="square" lIns="0" tIns="0" rIns="0" bIns="0" rtlCol="0" anchor="ctr"/>
          <a:lstStyle/>
          <a:p>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So the copilot can say: </a:t>
            </a:r>
            <a:pPr indent="0" marL="0">
              <a:lnSpc>
                <a:spcPct val="105000"/>
              </a:lnSpc>
              <a:buNone/>
            </a:pPr>
            <a:r>
              <a:rPr lang="en-US" sz="1700" b="1" dirty="0">
                <a:solidFill>
                  <a:srgbClr val="141414"/>
                </a:solidFill>
                <a:latin typeface="Calibri" pitchFamily="34" charset="0"/>
                <a:ea typeface="Calibri" pitchFamily="34" charset="-122"/>
                <a:cs typeface="Calibri" pitchFamily="34" charset="-120"/>
              </a:rPr>
              <a:t>"you're short because 13.7 days of your sales are locked in a queue."</a:t>
            </a:r>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 That's a cause, not just a number.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CAPABILITIES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DOES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779770" y="6460236"/>
            <a:ext cx="137160" cy="137160"/>
          </a:xfrm>
          <a:prstGeom prst="ellipse">
            <a:avLst/>
          </a:prstGeom>
          <a:solidFill>
            <a:srgbClr val="FF5A1F"/>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06 / 13</a:t>
            </a:r>
            <a:endParaRPr lang="en-US" sz="1000" dirty="0"/>
          </a:p>
        </p:txBody>
      </p:sp>
      <p:sp>
        <p:nvSpPr>
          <p:cNvPr id="22" name="Text 20"/>
          <p:cNvSpPr txBox="1"/>
          <p:nvPr/>
        </p:nvSpPr>
        <p:spPr>
          <a:xfrm>
            <a:off x="594360" y="169164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23" name="Text 21"/>
          <p:cNvSpPr txBox="1"/>
          <p:nvPr/>
        </p:nvSpPr>
        <p:spPr>
          <a:xfrm>
            <a:off x="1280160" y="1709928"/>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Cash-flow alerts</a:t>
            </a:r>
            <a:endParaRPr lang="en-US" sz="1500" dirty="0"/>
          </a:p>
        </p:txBody>
      </p:sp>
      <p:sp>
        <p:nvSpPr>
          <p:cNvPr id="24" name="Text 22"/>
          <p:cNvSpPr txBox="1"/>
          <p:nvPr/>
        </p:nvSpPr>
        <p:spPr>
          <a:xfrm>
            <a:off x="1280160" y="2039112"/>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Projects the bank balance day by day and names the payment causing the squeeze, how much, for how long, and the time left to arrange it.</a:t>
            </a:r>
            <a:endParaRPr lang="en-US" sz="1200" dirty="0"/>
          </a:p>
        </p:txBody>
      </p:sp>
      <p:sp>
        <p:nvSpPr>
          <p:cNvPr id="25" name="Text 23"/>
          <p:cNvSpPr txBox="1"/>
          <p:nvPr/>
        </p:nvSpPr>
        <p:spPr>
          <a:xfrm>
            <a:off x="594360" y="2679192"/>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26" name="Text 24"/>
          <p:cNvSpPr txBox="1"/>
          <p:nvPr/>
        </p:nvSpPr>
        <p:spPr>
          <a:xfrm>
            <a:off x="1280160" y="2697480"/>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Financing matching</a:t>
            </a:r>
            <a:endParaRPr lang="en-US" sz="1500" dirty="0"/>
          </a:p>
        </p:txBody>
      </p:sp>
      <p:sp>
        <p:nvSpPr>
          <p:cNvPr id="27" name="Text 25"/>
          <p:cNvSpPr txBox="1"/>
          <p:nvPr/>
        </p:nvSpPr>
        <p:spPr>
          <a:xfrm>
            <a:off x="1280160" y="3026664"/>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18 illustrative products, checked criterion by criterion, then simulated with real repayments before any is recommended.</a:t>
            </a:r>
            <a:endParaRPr lang="en-US" sz="1200" dirty="0"/>
          </a:p>
        </p:txBody>
      </p:sp>
      <p:sp>
        <p:nvSpPr>
          <p:cNvPr id="28" name="Text 26"/>
          <p:cNvSpPr txBox="1"/>
          <p:nvPr/>
        </p:nvSpPr>
        <p:spPr>
          <a:xfrm>
            <a:off x="594360" y="3666744"/>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9" name="Text 27"/>
          <p:cNvSpPr txBox="1"/>
          <p:nvPr/>
        </p:nvSpPr>
        <p:spPr>
          <a:xfrm>
            <a:off x="1280160" y="3685032"/>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Financial analysis</a:t>
            </a:r>
            <a:endParaRPr lang="en-US" sz="1500" dirty="0"/>
          </a:p>
        </p:txBody>
      </p:sp>
      <p:sp>
        <p:nvSpPr>
          <p:cNvPr id="30" name="Text 28"/>
          <p:cNvSpPr txBox="1"/>
          <p:nvPr/>
        </p:nvSpPr>
        <p:spPr>
          <a:xfrm>
            <a:off x="1280160" y="4014216"/>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Contribution margin, break-even, cash left over each month, peer comparison, and money trapped in the payout queue.</a:t>
            </a:r>
            <a:endParaRPr lang="en-US" sz="1200" dirty="0"/>
          </a:p>
        </p:txBody>
      </p:sp>
      <p:sp>
        <p:nvSpPr>
          <p:cNvPr id="31" name="Text 29"/>
          <p:cNvSpPr txBox="1"/>
          <p:nvPr/>
        </p:nvSpPr>
        <p:spPr>
          <a:xfrm>
            <a:off x="594360" y="465429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04</a:t>
            </a:r>
            <a:endParaRPr lang="en-US" sz="1800" dirty="0"/>
          </a:p>
        </p:txBody>
      </p:sp>
      <p:sp>
        <p:nvSpPr>
          <p:cNvPr id="32" name="Text 30"/>
          <p:cNvSpPr txBox="1"/>
          <p:nvPr/>
        </p:nvSpPr>
        <p:spPr>
          <a:xfrm>
            <a:off x="1280160" y="4672584"/>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What-if simulator</a:t>
            </a:r>
            <a:endParaRPr lang="en-US" sz="1500" dirty="0"/>
          </a:p>
        </p:txBody>
      </p:sp>
      <p:sp>
        <p:nvSpPr>
          <p:cNvPr id="33" name="Text 31"/>
          <p:cNvSpPr txBox="1"/>
          <p:nvPr/>
        </p:nvSpPr>
        <p:spPr>
          <a:xfrm>
            <a:off x="1280160" y="5001768"/>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Pay a bill later, cut ads, late payouts, take a loan. See the effect before committing. It changes nothing.</a:t>
            </a:r>
            <a:endParaRPr lang="en-US" sz="1200" dirty="0"/>
          </a:p>
        </p:txBody>
      </p:sp>
      <p:sp>
        <p:nvSpPr>
          <p:cNvPr id="34" name="Shape 32"/>
          <p:cNvSpPr/>
          <p:nvPr/>
        </p:nvSpPr>
        <p:spPr>
          <a:xfrm>
            <a:off x="5806440" y="1645920"/>
            <a:ext cx="5788152" cy="3886200"/>
          </a:xfrm>
          <a:prstGeom prst="rect">
            <a:avLst/>
          </a:prstGeom>
          <a:solidFill>
            <a:srgbClr val="141414"/>
          </a:solidFill>
          <a:ln/>
        </p:spPr>
      </p:sp>
      <p:pic>
        <p:nvPicPr>
          <p:cNvPr id="35" name="Image 0" descr="/home/claude/v25/repo/docs/deck-assets/app_alert.png">    </p:cNvPr>
          <p:cNvPicPr>
            <a:picLocks noChangeAspect="1"/>
          </p:cNvPicPr>
          <p:nvPr/>
        </p:nvPicPr>
        <p:blipFill>
          <a:blip r:embed="rId1"/>
          <a:stretch>
            <a:fillRect/>
          </a:stretch>
        </p:blipFill>
        <p:spPr>
          <a:xfrm>
            <a:off x="5943600" y="1783080"/>
            <a:ext cx="5513832" cy="3452774"/>
          </a:xfrm>
          <a:prstGeom prst="rect">
            <a:avLst/>
          </a:prstGeom>
        </p:spPr>
      </p:pic>
      <p:sp>
        <p:nvSpPr>
          <p:cNvPr id="36" name="Text 33"/>
          <p:cNvSpPr txBox="1"/>
          <p:nvPr/>
        </p:nvSpPr>
        <p:spPr>
          <a:xfrm>
            <a:off x="5943600" y="5266944"/>
            <a:ext cx="5513832"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The running app, offline mode: the answer to 'Will I run out of cash in the next two months?'</a:t>
            </a:r>
            <a:endParaRPr lang="en-US" sz="1000" dirty="0"/>
          </a:p>
        </p:txBody>
      </p:sp>
      <p:sp>
        <p:nvSpPr>
          <p:cNvPr id="37" name="Text 34"/>
          <p:cNvSpPr txBox="1"/>
          <p:nvPr/>
        </p:nvSpPr>
        <p:spPr>
          <a:xfrm>
            <a:off x="594360" y="5715000"/>
            <a:ext cx="11002975" cy="54864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The tools do the arithmetic. The model plans and explains.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Every figure comes from deterministic code, so the system runs without an API key and judges get the same numbers we do.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ACTUALLY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TELLS HER</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35040" y="6460236"/>
            <a:ext cx="137160" cy="137160"/>
          </a:xfrm>
          <a:prstGeom prst="ellipse">
            <a:avLst/>
          </a:prstGeom>
          <a:solidFill>
            <a:srgbClr val="FF5A1F"/>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07 / 13</a:t>
            </a:r>
            <a:endParaRPr lang="en-US" sz="1000" dirty="0"/>
          </a:p>
        </p:txBody>
      </p:sp>
      <p:graphicFrame>
        <p:nvGraphicFramePr>
          <p:cNvPr id="22" name="Chart 0" descr=""/>
          <p:cNvGraphicFramePr/>
          <p:nvPr/>
        </p:nvGraphicFramePr>
        <p:xfrm>
          <a:off x="502920" y="1645920"/>
          <a:ext cx="6949440" cy="352044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7315200" y="1691640"/>
            <a:ext cx="4279392" cy="3474720"/>
          </a:xfrm>
          <a:prstGeom prst="rect">
            <a:avLst/>
          </a:prstGeom>
          <a:solidFill>
            <a:srgbClr val="141414"/>
          </a:solidFill>
          <a:ln/>
        </p:spPr>
      </p:sp>
      <p:sp>
        <p:nvSpPr>
          <p:cNvPr id="24" name="Text 21"/>
          <p:cNvSpPr txBox="1"/>
          <p:nvPr/>
        </p:nvSpPr>
        <p:spPr>
          <a:xfrm>
            <a:off x="7635240" y="1901952"/>
            <a:ext cx="3657600" cy="228600"/>
          </a:xfrm>
          <a:prstGeom prst="rect">
            <a:avLst/>
          </a:prstGeom>
          <a:noFill/>
          <a:ln/>
        </p:spPr>
        <p:txBody>
          <a:bodyPr wrap="square" lIns="0" tIns="0" rIns="0" bIns="0" rtlCol="0" anchor="ctr"/>
          <a:lstStyle/>
          <a:p>
            <a:pPr indent="0" marL="0">
              <a:buNone/>
            </a:pPr>
            <a:r>
              <a:rPr lang="en-US" sz="1100" b="1" spc="150" kern="0" dirty="0">
                <a:solidFill>
                  <a:srgbClr val="A39C90"/>
                </a:solidFill>
                <a:latin typeface="Calibri" pitchFamily="34" charset="0"/>
                <a:ea typeface="Calibri" pitchFamily="34" charset="-122"/>
                <a:cs typeface="Calibri" pitchFamily="34" charset="-120"/>
              </a:rPr>
              <a:t>GOES NEGATIVE</a:t>
            </a:r>
            <a:endParaRPr lang="en-US" sz="1100" dirty="0"/>
          </a:p>
        </p:txBody>
      </p:sp>
      <p:sp>
        <p:nvSpPr>
          <p:cNvPr id="25" name="Text 22"/>
          <p:cNvSpPr txBox="1"/>
          <p:nvPr/>
        </p:nvSpPr>
        <p:spPr>
          <a:xfrm>
            <a:off x="7635240" y="2157984"/>
            <a:ext cx="3749040" cy="548640"/>
          </a:xfrm>
          <a:prstGeom prst="rect">
            <a:avLst/>
          </a:prstGeom>
          <a:noFill/>
          <a:ln/>
        </p:spPr>
        <p:txBody>
          <a:bodyPr wrap="square" lIns="0" tIns="0" rIns="0" bIns="0" rtlCol="0" anchor="ctr"/>
          <a:lstStyle/>
          <a:p>
            <a:pPr indent="0" marL="0">
              <a:buNone/>
            </a:pPr>
            <a:r>
              <a:rPr lang="en-US" sz="3000" dirty="0">
                <a:solidFill>
                  <a:srgbClr val="FF5A1F"/>
                </a:solidFill>
                <a:latin typeface="Archivo Black" pitchFamily="34" charset="0"/>
                <a:ea typeface="Archivo Black" pitchFamily="34" charset="-122"/>
                <a:cs typeface="Archivo Black" pitchFamily="34" charset="-120"/>
              </a:rPr>
              <a:t>25 SEPTEMBER</a:t>
            </a:r>
            <a:endParaRPr lang="en-US" sz="3000" dirty="0"/>
          </a:p>
        </p:txBody>
      </p:sp>
      <p:sp>
        <p:nvSpPr>
          <p:cNvPr id="26" name="Text 23"/>
          <p:cNvSpPr txBox="1"/>
          <p:nvPr/>
        </p:nvSpPr>
        <p:spPr>
          <a:xfrm>
            <a:off x="7635240" y="2880360"/>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Lowest point</a:t>
            </a:r>
            <a:endParaRPr lang="en-US" sz="1300" dirty="0"/>
          </a:p>
        </p:txBody>
      </p:sp>
      <p:sp>
        <p:nvSpPr>
          <p:cNvPr id="27" name="Text 24"/>
          <p:cNvSpPr txBox="1"/>
          <p:nvPr/>
        </p:nvSpPr>
        <p:spPr>
          <a:xfrm>
            <a:off x="9326880" y="2880360"/>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5,084 on 4 October</a:t>
            </a:r>
            <a:endParaRPr lang="en-US" sz="1300" dirty="0"/>
          </a:p>
        </p:txBody>
      </p:sp>
      <p:sp>
        <p:nvSpPr>
          <p:cNvPr id="28" name="Text 25"/>
          <p:cNvSpPr txBox="1"/>
          <p:nvPr/>
        </p:nvSpPr>
        <p:spPr>
          <a:xfrm>
            <a:off x="7635240" y="3282696"/>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Needs</a:t>
            </a:r>
            <a:endParaRPr lang="en-US" sz="1300" dirty="0"/>
          </a:p>
        </p:txBody>
      </p:sp>
      <p:sp>
        <p:nvSpPr>
          <p:cNvPr id="29" name="Text 26"/>
          <p:cNvSpPr txBox="1"/>
          <p:nvPr/>
        </p:nvSpPr>
        <p:spPr>
          <a:xfrm>
            <a:off x="9326880" y="3282696"/>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6,584</a:t>
            </a:r>
            <a:endParaRPr lang="en-US" sz="1300" dirty="0"/>
          </a:p>
        </p:txBody>
      </p:sp>
      <p:sp>
        <p:nvSpPr>
          <p:cNvPr id="30" name="Text 27"/>
          <p:cNvSpPr txBox="1"/>
          <p:nvPr/>
        </p:nvSpPr>
        <p:spPr>
          <a:xfrm>
            <a:off x="7635240" y="3685032"/>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For</a:t>
            </a:r>
            <a:endParaRPr lang="en-US" sz="1300" dirty="0"/>
          </a:p>
        </p:txBody>
      </p:sp>
      <p:sp>
        <p:nvSpPr>
          <p:cNvPr id="31" name="Text 28"/>
          <p:cNvSpPr txBox="1"/>
          <p:nvPr/>
        </p:nvSpPr>
        <p:spPr>
          <a:xfrm>
            <a:off x="9326880" y="3685032"/>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47 days</a:t>
            </a:r>
            <a:endParaRPr lang="en-US" sz="1300" dirty="0"/>
          </a:p>
        </p:txBody>
      </p:sp>
      <p:sp>
        <p:nvSpPr>
          <p:cNvPr id="32" name="Text 29"/>
          <p:cNvSpPr txBox="1"/>
          <p:nvPr/>
        </p:nvSpPr>
        <p:spPr>
          <a:xfrm>
            <a:off x="7635240" y="4087368"/>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Time to arrange it</a:t>
            </a:r>
            <a:endParaRPr lang="en-US" sz="1300" dirty="0"/>
          </a:p>
        </p:txBody>
      </p:sp>
      <p:sp>
        <p:nvSpPr>
          <p:cNvPr id="33" name="Text 30"/>
          <p:cNvSpPr txBox="1"/>
          <p:nvPr/>
        </p:nvSpPr>
        <p:spPr>
          <a:xfrm>
            <a:off x="9326880" y="4087368"/>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6 days</a:t>
            </a:r>
            <a:endParaRPr lang="en-US" sz="1300" dirty="0"/>
          </a:p>
        </p:txBody>
      </p:sp>
      <p:sp>
        <p:nvSpPr>
          <p:cNvPr id="34" name="Text 31"/>
          <p:cNvSpPr txBox="1"/>
          <p:nvPr/>
        </p:nvSpPr>
        <p:spPr>
          <a:xfrm>
            <a:off x="7635240" y="4572000"/>
            <a:ext cx="3749040" cy="365760"/>
          </a:xfrm>
          <a:prstGeom prst="rect">
            <a:avLst/>
          </a:prstGeom>
          <a:noFill/>
          <a:ln/>
        </p:spPr>
        <p:txBody>
          <a:bodyPr wrap="square" lIns="0" tIns="0" rIns="0" bIns="0" rtlCol="0" anchor="ctr"/>
          <a:lstStyle/>
          <a:p>
            <a:pPr indent="0" marL="0">
              <a:buNone/>
            </a:pPr>
            <a:r>
              <a:rPr lang="en-US" sz="1250" i="1" dirty="0">
                <a:solidFill>
                  <a:srgbClr val="FF5A1F"/>
                </a:solidFill>
                <a:latin typeface="Calibri" pitchFamily="34" charset="0"/>
                <a:ea typeface="Calibri" pitchFamily="34" charset="-122"/>
                <a:cs typeface="Calibri" pitchFamily="34" charset="-120"/>
              </a:rPr>
              <a:t>Cause: Textil Nord GmbH, EUR 6,800</a:t>
            </a:r>
            <a:endParaRPr lang="en-US" sz="1250" dirty="0"/>
          </a:p>
        </p:txBody>
      </p:sp>
      <p:sp>
        <p:nvSpPr>
          <p:cNvPr id="35" name="Text 32"/>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A timing problem, not a failing business: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with no action she recovers to EUR 2,815 by day 60. Before it mentions borrowing, it offers the free levers first: an early payout, pausing ads, talking to the supplier.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DIFFERENTIATOR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DISTINCTION A GENERIC ASSISTANT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GETS WRONG</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290310" y="6460236"/>
            <a:ext cx="137160" cy="137160"/>
          </a:xfrm>
          <a:prstGeom prst="ellipse">
            <a:avLst/>
          </a:prstGeom>
          <a:solidFill>
            <a:srgbClr val="FF5A1F"/>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08 / 13</a:t>
            </a:r>
            <a:endParaRPr lang="en-US" sz="1000" dirty="0"/>
          </a:p>
        </p:txBody>
      </p:sp>
      <p:sp>
        <p:nvSpPr>
          <p:cNvPr id="22" name="Text 20"/>
          <p:cNvSpPr txBox="1"/>
          <p:nvPr/>
        </p:nvSpPr>
        <p:spPr>
          <a:xfrm>
            <a:off x="594360" y="1600200"/>
            <a:ext cx="5212080" cy="701040"/>
          </a:xfrm>
          <a:prstGeom prst="rect">
            <a:avLst/>
          </a:prstGeom>
          <a:noFill/>
          <a:ln/>
        </p:spPr>
        <p:txBody>
          <a:bodyPr wrap="square" lIns="0" tIns="0" rIns="0" bIns="0" rtlCol="0" anchor="b"/>
          <a:lstStyle/>
          <a:p>
            <a:pPr indent="0" marL="0">
              <a:buNone/>
            </a:pPr>
            <a:r>
              <a:rPr lang="en-US" sz="4600" dirty="0">
                <a:solidFill>
                  <a:srgbClr val="141414"/>
                </a:solidFill>
                <a:latin typeface="Archivo Black" pitchFamily="34" charset="0"/>
                <a:ea typeface="Archivo Black" pitchFamily="34" charset="-122"/>
                <a:cs typeface="Archivo Black" pitchFamily="34" charset="-120"/>
              </a:rPr>
              <a:t>47 DAYS</a:t>
            </a:r>
            <a:endParaRPr lang="en-US" sz="4600" dirty="0"/>
          </a:p>
        </p:txBody>
      </p:sp>
      <p:sp>
        <p:nvSpPr>
          <p:cNvPr id="23" name="Text 21"/>
          <p:cNvSpPr txBox="1"/>
          <p:nvPr/>
        </p:nvSpPr>
        <p:spPr>
          <a:xfrm>
            <a:off x="594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 money is needed FOR: drives the cost</a:t>
            </a:r>
            <a:endParaRPr lang="en-US" sz="1300" dirty="0"/>
          </a:p>
        </p:txBody>
      </p:sp>
      <p:sp>
        <p:nvSpPr>
          <p:cNvPr id="24" name="Text 22"/>
          <p:cNvSpPr txBox="1"/>
          <p:nvPr/>
        </p:nvSpPr>
        <p:spPr>
          <a:xfrm>
            <a:off x="6309360" y="1600200"/>
            <a:ext cx="5212080" cy="701040"/>
          </a:xfrm>
          <a:prstGeom prst="rect">
            <a:avLst/>
          </a:prstGeom>
          <a:noFill/>
          <a:ln/>
        </p:spPr>
        <p:txBody>
          <a:bodyPr wrap="square" lIns="0" tIns="0" rIns="0" bIns="0" rtlCol="0" anchor="b"/>
          <a:lstStyle/>
          <a:p>
            <a:pPr indent="0" marL="0">
              <a:buNone/>
            </a:pPr>
            <a:r>
              <a:rPr lang="en-US" sz="4600" dirty="0">
                <a:solidFill>
                  <a:srgbClr val="FF5A1F"/>
                </a:solidFill>
                <a:latin typeface="Archivo Black" pitchFamily="34" charset="0"/>
                <a:ea typeface="Archivo Black" pitchFamily="34" charset="-122"/>
                <a:cs typeface="Archivo Black" pitchFamily="34" charset="-120"/>
              </a:rPr>
              <a:t>6 DAYS</a:t>
            </a:r>
            <a:endParaRPr lang="en-US" sz="4600" dirty="0"/>
          </a:p>
        </p:txBody>
      </p:sp>
      <p:sp>
        <p:nvSpPr>
          <p:cNvPr id="25" name="Text 23"/>
          <p:cNvSpPr txBox="1"/>
          <p:nvPr/>
        </p:nvSpPr>
        <p:spPr>
          <a:xfrm>
            <a:off x="6309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there is to ARRANGE it: drives what is possible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3246120"/>
          <a:ext cx="11002975" cy="914400"/>
        </p:xfrm>
        <a:graphic>
          <a:graphicData uri="http://schemas.openxmlformats.org/drawingml/2006/table">
            <a:tbl>
              <a:tblPr/>
              <a:tblGrid>
                <a:gridCol w="3566160"/>
                <a:gridCol w="2011680"/>
                <a:gridCol w="1554480"/>
                <a:gridCol w="3867912"/>
              </a:tblGrid>
              <a:tr h="384048">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Cost for 47 days</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Arranges in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Tested by simulation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Granary Supplier Payment Terms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196</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7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cheapest, but lands after the buffer is breached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384048">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Ember Seasonal Bridge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b="1" dirty="0">
                          <a:solidFill>
                            <a:srgbClr val="141414"/>
                          </a:solidFill>
                          <a:latin typeface="Calibri" pitchFamily="34" charset="0"/>
                          <a:ea typeface="Calibri" pitchFamily="34" charset="-122"/>
                          <a:cs typeface="Calibri" pitchFamily="34" charset="-120"/>
                        </a:rPr>
                        <a:t>EUR 218</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6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indent="0" marL="0">
                        <a:buNone/>
                      </a:pPr>
                      <a:r>
                        <a:rPr lang="en-US" sz="1200" b="1" dirty="0">
                          <a:solidFill>
                            <a:srgbClr val="2F6B3F"/>
                          </a:solidFill>
                          <a:latin typeface="Calibri" pitchFamily="34" charset="0"/>
                          <a:ea typeface="Calibri" pitchFamily="34" charset="-122"/>
                          <a:cs typeface="Calibri" pitchFamily="34" charset="-120"/>
                        </a:rPr>
                        <a:t>recommended: stays out of the red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SwiftCash Merchant Advance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1,844</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1 day</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~98% effective APR, still goes negative</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27" name="Text 24"/>
          <p:cNvSpPr txBox="1"/>
          <p:nvPr/>
        </p:nvSpPr>
        <p:spPr>
          <a:xfrm>
            <a:off x="594360" y="5166360"/>
            <a:ext cx="11002975" cy="640080"/>
          </a:xfrm>
          <a:prstGeom prst="rect">
            <a:avLst/>
          </a:prstGeom>
          <a:noFill/>
          <a:ln/>
        </p:spPr>
        <p:txBody>
          <a:bodyPr wrap="square" lIns="0" tIns="0" rIns="0" bIns="0" rtlCol="0" anchor="ctr"/>
          <a:lstStyle/>
          <a:p>
            <a:pPr indent="0" marL="0">
              <a:lnSpc>
                <a:spcPct val="105000"/>
              </a:lnSpc>
              <a:buNone/>
            </a:pPr>
            <a:r>
              <a:rPr lang="en-US" sz="1400" i="1" dirty="0">
                <a:solidFill>
                  <a:srgbClr val="5F594F"/>
                </a:solidFill>
                <a:latin typeface="Calibri" pitchFamily="34" charset="0"/>
                <a:ea typeface="Calibri" pitchFamily="34" charset="-122"/>
                <a:cs typeface="Calibri" pitchFamily="34" charset="-120"/>
              </a:rPr>
              <a:t>The cheapest product arrives too late. The fastest is the most expensive and still leaves her negative. Only the recommended one was tested end to end and holds.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WHAT-IF SIMULATOR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TEST A DECISION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BEFORE</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YOU COMMIT TO IT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45580" y="6460236"/>
            <a:ext cx="137160" cy="137160"/>
          </a:xfrm>
          <a:prstGeom prst="ellipse">
            <a:avLst/>
          </a:prstGeom>
          <a:solidFill>
            <a:srgbClr val="FF5A1F"/>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09 / 13</a:t>
            </a:r>
            <a:endParaRPr lang="en-US" sz="1000" dirty="0"/>
          </a:p>
        </p:txBody>
      </p:sp>
      <p:graphicFrame>
        <p:nvGraphicFramePr>
          <p:cNvPr id="22" name="Chart 0" descr=""/>
          <p:cNvGraphicFramePr/>
          <p:nvPr/>
        </p:nvGraphicFramePr>
        <p:xfrm>
          <a:off x="502920" y="1600200"/>
          <a:ext cx="6309360" cy="356616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720840" y="1691640"/>
            <a:ext cx="4846320" cy="274320"/>
          </a:xfrm>
          <a:prstGeom prst="rect">
            <a:avLst/>
          </a:prstGeom>
          <a:noFill/>
          <a:ln/>
        </p:spPr>
        <p:txBody>
          <a:bodyPr wrap="square" lIns="0" tIns="0" rIns="0" bIns="0" rtlCol="0" anchor="ctr"/>
          <a:lstStyle/>
          <a:p>
            <a:pPr indent="0" marL="0">
              <a:buNone/>
            </a:pPr>
            <a:r>
              <a:rPr lang="en-US" sz="1100" b="1" spc="100" kern="0" dirty="0">
                <a:solidFill>
                  <a:srgbClr val="5F594F"/>
                </a:solidFill>
                <a:latin typeface="Calibri" pitchFamily="34" charset="0"/>
                <a:ea typeface="Calibri" pitchFamily="34" charset="-122"/>
                <a:cs typeface="Calibri" pitchFamily="34" charset="-120"/>
              </a:rPr>
              <a:t>STARTING FROM A LOW POINT OF -EUR 5,084</a:t>
            </a:r>
            <a:endParaRPr lang="en-US" sz="1100" dirty="0"/>
          </a:p>
        </p:txBody>
      </p:sp>
      <p:sp>
        <p:nvSpPr>
          <p:cNvPr id="24" name="Shape 21"/>
          <p:cNvSpPr/>
          <p:nvPr/>
        </p:nvSpPr>
        <p:spPr>
          <a:xfrm>
            <a:off x="6720840" y="2029968"/>
            <a:ext cx="4873752" cy="0"/>
          </a:xfrm>
          <a:prstGeom prst="line">
            <a:avLst/>
          </a:prstGeom>
          <a:noFill/>
          <a:ln w="9525">
            <a:solidFill>
              <a:srgbClr val="D6CCBA"/>
            </a:solidFill>
            <a:prstDash val="solid"/>
          </a:ln>
        </p:spPr>
      </p:sp>
      <p:sp>
        <p:nvSpPr>
          <p:cNvPr id="25" name="Text 22"/>
          <p:cNvSpPr txBox="1"/>
          <p:nvPr/>
        </p:nvSpPr>
        <p:spPr>
          <a:xfrm>
            <a:off x="6720840" y="2103120"/>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Pay the supplier 3 weeks later</a:t>
            </a:r>
            <a:endParaRPr lang="en-US" sz="1350" dirty="0"/>
          </a:p>
        </p:txBody>
      </p:sp>
      <p:sp>
        <p:nvSpPr>
          <p:cNvPr id="26" name="Text 23"/>
          <p:cNvSpPr txBox="1"/>
          <p:nvPr/>
        </p:nvSpPr>
        <p:spPr>
          <a:xfrm>
            <a:off x="6720840" y="2395728"/>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3,925</a:t>
            </a:r>
            <a:endParaRPr lang="en-US" sz="1250" dirty="0"/>
          </a:p>
        </p:txBody>
      </p:sp>
      <p:sp>
        <p:nvSpPr>
          <p:cNvPr id="27" name="Shape 24"/>
          <p:cNvSpPr/>
          <p:nvPr/>
        </p:nvSpPr>
        <p:spPr>
          <a:xfrm>
            <a:off x="6720840" y="2743200"/>
            <a:ext cx="4873752" cy="0"/>
          </a:xfrm>
          <a:prstGeom prst="line">
            <a:avLst/>
          </a:prstGeom>
          <a:noFill/>
          <a:ln w="9525">
            <a:solidFill>
              <a:srgbClr val="D6CCBA"/>
            </a:solidFill>
            <a:prstDash val="solid"/>
          </a:ln>
        </p:spPr>
      </p:sp>
      <p:sp>
        <p:nvSpPr>
          <p:cNvPr id="28" name="Text 25"/>
          <p:cNvSpPr txBox="1"/>
          <p:nvPr/>
        </p:nvSpPr>
        <p:spPr>
          <a:xfrm>
            <a:off x="6720840" y="2816352"/>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Marketplace payouts arrive 3 days late</a:t>
            </a:r>
            <a:endParaRPr lang="en-US" sz="1350" dirty="0"/>
          </a:p>
        </p:txBody>
      </p:sp>
      <p:sp>
        <p:nvSpPr>
          <p:cNvPr id="29" name="Text 26"/>
          <p:cNvSpPr txBox="1"/>
          <p:nvPr/>
        </p:nvSpPr>
        <p:spPr>
          <a:xfrm>
            <a:off x="6720840" y="3108960"/>
            <a:ext cx="4846320" cy="274320"/>
          </a:xfrm>
          <a:prstGeom prst="rect">
            <a:avLst/>
          </a:prstGeom>
          <a:noFill/>
          <a:ln/>
        </p:spPr>
        <p:txBody>
          <a:bodyPr wrap="square" lIns="0" tIns="0" rIns="0" bIns="0" rtlCol="0" anchor="ctr"/>
          <a:lstStyle/>
          <a:p>
            <a:pPr indent="0" marL="0">
              <a:buNone/>
            </a:pPr>
            <a:r>
              <a:rPr lang="en-US" sz="1250" dirty="0">
                <a:solidFill>
                  <a:srgbClr val="B42318"/>
                </a:solidFill>
                <a:latin typeface="Calibri" pitchFamily="34" charset="0"/>
                <a:ea typeface="Calibri" pitchFamily="34" charset="-122"/>
                <a:cs typeface="Calibri" pitchFamily="34" charset="-120"/>
              </a:rPr>
              <a:t>makes it worse  ·  low point -EUR 5,412</a:t>
            </a:r>
            <a:endParaRPr lang="en-US" sz="1250" dirty="0"/>
          </a:p>
        </p:txBody>
      </p:sp>
      <p:sp>
        <p:nvSpPr>
          <p:cNvPr id="30" name="Shape 27"/>
          <p:cNvSpPr/>
          <p:nvPr/>
        </p:nvSpPr>
        <p:spPr>
          <a:xfrm>
            <a:off x="6720840" y="3456432"/>
            <a:ext cx="4873752" cy="0"/>
          </a:xfrm>
          <a:prstGeom prst="line">
            <a:avLst/>
          </a:prstGeom>
          <a:noFill/>
          <a:ln w="9525">
            <a:solidFill>
              <a:srgbClr val="D6CCBA"/>
            </a:solidFill>
            <a:prstDash val="solid"/>
          </a:ln>
        </p:spPr>
      </p:sp>
      <p:sp>
        <p:nvSpPr>
          <p:cNvPr id="31" name="Text 28"/>
          <p:cNvSpPr txBox="1"/>
          <p:nvPr/>
        </p:nvSpPr>
        <p:spPr>
          <a:xfrm>
            <a:off x="6720840" y="3529584"/>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Ember Seasonal Bridge</a:t>
            </a:r>
            <a:endParaRPr lang="en-US" sz="1350" dirty="0"/>
          </a:p>
        </p:txBody>
      </p:sp>
      <p:sp>
        <p:nvSpPr>
          <p:cNvPr id="32" name="Text 29"/>
          <p:cNvSpPr txBox="1"/>
          <p:nvPr/>
        </p:nvSpPr>
        <p:spPr>
          <a:xfrm>
            <a:off x="6720840" y="3822192"/>
            <a:ext cx="4846320" cy="274320"/>
          </a:xfrm>
          <a:prstGeom prst="rect">
            <a:avLst/>
          </a:prstGeom>
          <a:noFill/>
          <a:ln/>
        </p:spPr>
        <p:txBody>
          <a:bodyPr wrap="square" lIns="0" tIns="0" rIns="0" bIns="0" rtlCol="0" anchor="ctr"/>
          <a:lstStyle/>
          <a:p>
            <a:pPr indent="0" marL="0">
              <a:buNone/>
            </a:pPr>
            <a:r>
              <a:rPr lang="en-US" sz="1250" dirty="0">
                <a:solidFill>
                  <a:srgbClr val="2F6B3F"/>
                </a:solidFill>
                <a:latin typeface="Calibri" pitchFamily="34" charset="0"/>
                <a:ea typeface="Calibri" pitchFamily="34" charset="-122"/>
                <a:cs typeface="Calibri" pitchFamily="34" charset="-120"/>
              </a:rPr>
              <a:t>stays out of the red  ·  low point EUR 959</a:t>
            </a:r>
            <a:endParaRPr lang="en-US" sz="1250" dirty="0"/>
          </a:p>
        </p:txBody>
      </p:sp>
      <p:sp>
        <p:nvSpPr>
          <p:cNvPr id="33" name="Shape 30"/>
          <p:cNvSpPr/>
          <p:nvPr/>
        </p:nvSpPr>
        <p:spPr>
          <a:xfrm>
            <a:off x="6720840" y="4169664"/>
            <a:ext cx="4873752" cy="0"/>
          </a:xfrm>
          <a:prstGeom prst="line">
            <a:avLst/>
          </a:prstGeom>
          <a:noFill/>
          <a:ln w="9525">
            <a:solidFill>
              <a:srgbClr val="D6CCBA"/>
            </a:solidFill>
            <a:prstDash val="solid"/>
          </a:ln>
        </p:spPr>
      </p:sp>
      <p:sp>
        <p:nvSpPr>
          <p:cNvPr id="34" name="Text 31"/>
          <p:cNvSpPr txBox="1"/>
          <p:nvPr/>
        </p:nvSpPr>
        <p:spPr>
          <a:xfrm>
            <a:off x="6720840" y="4242816"/>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SwiftCash Merchant Advance</a:t>
            </a:r>
            <a:endParaRPr lang="en-US" sz="1350" dirty="0"/>
          </a:p>
        </p:txBody>
      </p:sp>
      <p:sp>
        <p:nvSpPr>
          <p:cNvPr id="35" name="Text 32"/>
          <p:cNvSpPr txBox="1"/>
          <p:nvPr/>
        </p:nvSpPr>
        <p:spPr>
          <a:xfrm>
            <a:off x="6720840" y="4535424"/>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796</a:t>
            </a:r>
            <a:endParaRPr lang="en-US" sz="1250" dirty="0"/>
          </a:p>
        </p:txBody>
      </p:sp>
      <p:sp>
        <p:nvSpPr>
          <p:cNvPr id="36" name="Text 33"/>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Honest by construction: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money can't arrive before the product can be arranged, only products she qualifies for are simulated, and every assumption is stated. It projects only and changes nothing.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A39C90"/>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THE AGENT CANNOT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MOVE MONEY.</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 BY CONSTRUCTION.</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4A463F"/>
            </a:solidFill>
            <a:prstDash val="solid"/>
          </a:ln>
        </p:spPr>
      </p:sp>
      <p:sp>
        <p:nvSpPr>
          <p:cNvPr id="7" name="Shape 5"/>
          <p:cNvSpPr/>
          <p:nvPr/>
        </p:nvSpPr>
        <p:spPr>
          <a:xfrm>
            <a:off x="4539996" y="6496812"/>
            <a:ext cx="64008" cy="64008"/>
          </a:xfrm>
          <a:prstGeom prst="ellipse">
            <a:avLst/>
          </a:prstGeom>
          <a:solidFill>
            <a:srgbClr val="A39C90"/>
          </a:solidFill>
          <a:ln/>
        </p:spPr>
      </p:sp>
      <p:sp>
        <p:nvSpPr>
          <p:cNvPr id="8" name="Shape 6"/>
          <p:cNvSpPr/>
          <p:nvPr/>
        </p:nvSpPr>
        <p:spPr>
          <a:xfrm>
            <a:off x="4795266" y="6496812"/>
            <a:ext cx="64008" cy="64008"/>
          </a:xfrm>
          <a:prstGeom prst="ellipse">
            <a:avLst/>
          </a:prstGeom>
          <a:solidFill>
            <a:srgbClr val="A39C90"/>
          </a:solidFill>
          <a:ln/>
        </p:spPr>
      </p:sp>
      <p:sp>
        <p:nvSpPr>
          <p:cNvPr id="9" name="Shape 7"/>
          <p:cNvSpPr/>
          <p:nvPr/>
        </p:nvSpPr>
        <p:spPr>
          <a:xfrm>
            <a:off x="5050536" y="6496812"/>
            <a:ext cx="64008" cy="64008"/>
          </a:xfrm>
          <a:prstGeom prst="ellipse">
            <a:avLst/>
          </a:prstGeom>
          <a:solidFill>
            <a:srgbClr val="A39C90"/>
          </a:solidFill>
          <a:ln/>
        </p:spPr>
      </p:sp>
      <p:sp>
        <p:nvSpPr>
          <p:cNvPr id="10" name="Shape 8"/>
          <p:cNvSpPr/>
          <p:nvPr/>
        </p:nvSpPr>
        <p:spPr>
          <a:xfrm>
            <a:off x="5305806" y="6496812"/>
            <a:ext cx="64008" cy="64008"/>
          </a:xfrm>
          <a:prstGeom prst="ellipse">
            <a:avLst/>
          </a:prstGeom>
          <a:solidFill>
            <a:srgbClr val="A39C90"/>
          </a:solidFill>
          <a:ln/>
        </p:spPr>
      </p:sp>
      <p:sp>
        <p:nvSpPr>
          <p:cNvPr id="11" name="Shape 9"/>
          <p:cNvSpPr/>
          <p:nvPr/>
        </p:nvSpPr>
        <p:spPr>
          <a:xfrm>
            <a:off x="5561076" y="6496812"/>
            <a:ext cx="64008" cy="64008"/>
          </a:xfrm>
          <a:prstGeom prst="ellipse">
            <a:avLst/>
          </a:prstGeom>
          <a:solidFill>
            <a:srgbClr val="A39C90"/>
          </a:solidFill>
          <a:ln/>
        </p:spPr>
      </p:sp>
      <p:sp>
        <p:nvSpPr>
          <p:cNvPr id="12" name="Shape 10"/>
          <p:cNvSpPr/>
          <p:nvPr/>
        </p:nvSpPr>
        <p:spPr>
          <a:xfrm>
            <a:off x="5816346" y="6496812"/>
            <a:ext cx="64008" cy="64008"/>
          </a:xfrm>
          <a:prstGeom prst="ellipse">
            <a:avLst/>
          </a:prstGeom>
          <a:solidFill>
            <a:srgbClr val="A39C90"/>
          </a:solidFill>
          <a:ln/>
        </p:spPr>
      </p:sp>
      <p:sp>
        <p:nvSpPr>
          <p:cNvPr id="13" name="Shape 11"/>
          <p:cNvSpPr/>
          <p:nvPr/>
        </p:nvSpPr>
        <p:spPr>
          <a:xfrm>
            <a:off x="6071616" y="6496812"/>
            <a:ext cx="64008" cy="64008"/>
          </a:xfrm>
          <a:prstGeom prst="ellipse">
            <a:avLst/>
          </a:prstGeom>
          <a:solidFill>
            <a:srgbClr val="A39C90"/>
          </a:solidFill>
          <a:ln/>
        </p:spPr>
      </p:sp>
      <p:sp>
        <p:nvSpPr>
          <p:cNvPr id="14" name="Shape 12"/>
          <p:cNvSpPr/>
          <p:nvPr/>
        </p:nvSpPr>
        <p:spPr>
          <a:xfrm>
            <a:off x="6326886" y="6496812"/>
            <a:ext cx="64008" cy="64008"/>
          </a:xfrm>
          <a:prstGeom prst="ellipse">
            <a:avLst/>
          </a:prstGeom>
          <a:solidFill>
            <a:srgbClr val="A39C90"/>
          </a:solidFill>
          <a:ln/>
        </p:spPr>
      </p:sp>
      <p:sp>
        <p:nvSpPr>
          <p:cNvPr id="15" name="Shape 13"/>
          <p:cNvSpPr/>
          <p:nvPr/>
        </p:nvSpPr>
        <p:spPr>
          <a:xfrm>
            <a:off x="6582156" y="6496812"/>
            <a:ext cx="64008" cy="64008"/>
          </a:xfrm>
          <a:prstGeom prst="ellipse">
            <a:avLst/>
          </a:prstGeom>
          <a:solidFill>
            <a:srgbClr val="A39C90"/>
          </a:solidFill>
          <a:ln/>
        </p:spPr>
      </p:sp>
      <p:sp>
        <p:nvSpPr>
          <p:cNvPr id="16" name="Shape 14"/>
          <p:cNvSpPr/>
          <p:nvPr/>
        </p:nvSpPr>
        <p:spPr>
          <a:xfrm>
            <a:off x="6800850" y="6460236"/>
            <a:ext cx="137160" cy="137160"/>
          </a:xfrm>
          <a:prstGeom prst="ellipse">
            <a:avLst/>
          </a:prstGeom>
          <a:solidFill>
            <a:srgbClr val="FF5A1F"/>
          </a:solidFill>
          <a:ln/>
        </p:spPr>
      </p:sp>
      <p:sp>
        <p:nvSpPr>
          <p:cNvPr id="17" name="Shape 15"/>
          <p:cNvSpPr/>
          <p:nvPr/>
        </p:nvSpPr>
        <p:spPr>
          <a:xfrm>
            <a:off x="7092696" y="6496812"/>
            <a:ext cx="64008" cy="64008"/>
          </a:xfrm>
          <a:prstGeom prst="ellipse">
            <a:avLst/>
          </a:prstGeom>
          <a:solidFill>
            <a:srgbClr val="4A463F"/>
          </a:solidFill>
          <a:ln/>
        </p:spPr>
      </p:sp>
      <p:sp>
        <p:nvSpPr>
          <p:cNvPr id="18" name="Shape 16"/>
          <p:cNvSpPr/>
          <p:nvPr/>
        </p:nvSpPr>
        <p:spPr>
          <a:xfrm>
            <a:off x="7347966" y="6496812"/>
            <a:ext cx="64008" cy="64008"/>
          </a:xfrm>
          <a:prstGeom prst="ellipse">
            <a:avLst/>
          </a:prstGeom>
          <a:solidFill>
            <a:srgbClr val="4A463F"/>
          </a:solidFill>
          <a:ln/>
        </p:spPr>
      </p:sp>
      <p:sp>
        <p:nvSpPr>
          <p:cNvPr id="19" name="Shape 17"/>
          <p:cNvSpPr/>
          <p:nvPr/>
        </p:nvSpPr>
        <p:spPr>
          <a:xfrm>
            <a:off x="7603236" y="6496812"/>
            <a:ext cx="64008" cy="64008"/>
          </a:xfrm>
          <a:prstGeom prst="ellipse">
            <a:avLst/>
          </a:prstGeom>
          <a:solidFill>
            <a:srgbClr val="4A463F"/>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10 / 13</a:t>
            </a:r>
            <a:endParaRPr lang="en-US" sz="1000" dirty="0"/>
          </a:p>
        </p:txBody>
      </p:sp>
      <p:sp>
        <p:nvSpPr>
          <p:cNvPr id="22" name="Text 20"/>
          <p:cNvSpPr txBox="1"/>
          <p:nvPr/>
        </p:nvSpPr>
        <p:spPr>
          <a:xfrm>
            <a:off x="594360" y="1572768"/>
            <a:ext cx="10515600" cy="365760"/>
          </a:xfrm>
          <a:prstGeom prst="rect">
            <a:avLst/>
          </a:prstGeom>
          <a:noFill/>
          <a:ln/>
        </p:spPr>
        <p:txBody>
          <a:bodyPr wrap="square" lIns="0" tIns="0" rIns="0" bIns="0" rtlCol="0" anchor="ctr"/>
          <a:lstStyle/>
          <a:p>
            <a:pPr indent="0" marL="0">
              <a:buNone/>
            </a:pPr>
            <a:r>
              <a:rPr lang="en-US" sz="1400" dirty="0">
                <a:solidFill>
                  <a:srgbClr val="A39C90"/>
                </a:solidFill>
                <a:latin typeface="Calibri" pitchFamily="34" charset="0"/>
                <a:ea typeface="Calibri" pitchFamily="34" charset="-122"/>
                <a:cs typeface="Calibri" pitchFamily="34" charset="-120"/>
              </a:rPr>
              <a:t>We assume the model can be fully compromised. Every control that matters still holds.</a:t>
            </a:r>
            <a:endParaRPr lang="en-US" sz="1400" dirty="0"/>
          </a:p>
        </p:txBody>
      </p:sp>
      <p:sp>
        <p:nvSpPr>
          <p:cNvPr id="23" name="Shape 21"/>
          <p:cNvSpPr/>
          <p:nvPr/>
        </p:nvSpPr>
        <p:spPr>
          <a:xfrm>
            <a:off x="594360" y="2148840"/>
            <a:ext cx="5486400" cy="777240"/>
          </a:xfrm>
          <a:prstGeom prst="rect">
            <a:avLst/>
          </a:prstGeom>
          <a:solidFill>
            <a:srgbClr val="1E1C19"/>
          </a:solidFill>
          <a:ln w="9525">
            <a:solidFill>
              <a:srgbClr val="3A362F"/>
            </a:solidFill>
            <a:prstDash val="solid"/>
          </a:ln>
        </p:spPr>
      </p:sp>
      <p:sp>
        <p:nvSpPr>
          <p:cNvPr id="24" name="Text 22"/>
          <p:cNvSpPr txBox="1"/>
          <p:nvPr/>
        </p:nvSpPr>
        <p:spPr>
          <a:xfrm>
            <a:off x="822960" y="23042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T0</a:t>
            </a:r>
            <a:endParaRPr lang="en-US" sz="2200" dirty="0"/>
          </a:p>
        </p:txBody>
      </p:sp>
      <p:sp>
        <p:nvSpPr>
          <p:cNvPr id="25" name="Text 23"/>
          <p:cNvSpPr txBox="1"/>
          <p:nvPr/>
        </p:nvSpPr>
        <p:spPr>
          <a:xfrm>
            <a:off x="1600200" y="22402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Read</a:t>
            </a:r>
            <a:endParaRPr lang="en-US" sz="1400" dirty="0"/>
          </a:p>
        </p:txBody>
      </p:sp>
      <p:sp>
        <p:nvSpPr>
          <p:cNvPr id="26" name="Text 24"/>
          <p:cNvSpPr txBox="1"/>
          <p:nvPr/>
        </p:nvSpPr>
        <p:spPr>
          <a:xfrm>
            <a:off x="1600200" y="25328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Read simulated data. No side effects.</a:t>
            </a:r>
            <a:endParaRPr lang="en-US" sz="1200" dirty="0"/>
          </a:p>
        </p:txBody>
      </p:sp>
      <p:sp>
        <p:nvSpPr>
          <p:cNvPr id="27" name="Shape 25"/>
          <p:cNvSpPr/>
          <p:nvPr/>
        </p:nvSpPr>
        <p:spPr>
          <a:xfrm>
            <a:off x="594360" y="3063240"/>
            <a:ext cx="5486400" cy="777240"/>
          </a:xfrm>
          <a:prstGeom prst="rect">
            <a:avLst/>
          </a:prstGeom>
          <a:solidFill>
            <a:srgbClr val="1E1C19"/>
          </a:solidFill>
          <a:ln w="9525">
            <a:solidFill>
              <a:srgbClr val="3A362F"/>
            </a:solidFill>
            <a:prstDash val="solid"/>
          </a:ln>
        </p:spPr>
      </p:sp>
      <p:sp>
        <p:nvSpPr>
          <p:cNvPr id="28" name="Text 26"/>
          <p:cNvSpPr txBox="1"/>
          <p:nvPr/>
        </p:nvSpPr>
        <p:spPr>
          <a:xfrm>
            <a:off x="822960" y="32186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T1</a:t>
            </a:r>
            <a:endParaRPr lang="en-US" sz="2200" dirty="0"/>
          </a:p>
        </p:txBody>
      </p:sp>
      <p:sp>
        <p:nvSpPr>
          <p:cNvPr id="29" name="Text 27"/>
          <p:cNvSpPr txBox="1"/>
          <p:nvPr/>
        </p:nvSpPr>
        <p:spPr>
          <a:xfrm>
            <a:off x="1600200" y="31546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Recommend</a:t>
            </a:r>
            <a:endParaRPr lang="en-US" sz="1400" dirty="0"/>
          </a:p>
        </p:txBody>
      </p:sp>
      <p:sp>
        <p:nvSpPr>
          <p:cNvPr id="30" name="Text 28"/>
          <p:cNvSpPr txBox="1"/>
          <p:nvPr/>
        </p:nvSpPr>
        <p:spPr>
          <a:xfrm>
            <a:off x="1600200" y="34472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Forecasts, matches, what-ifs. Every session starts here.</a:t>
            </a:r>
            <a:endParaRPr lang="en-US" sz="1200" dirty="0"/>
          </a:p>
        </p:txBody>
      </p:sp>
      <p:sp>
        <p:nvSpPr>
          <p:cNvPr id="31" name="Shape 29"/>
          <p:cNvSpPr/>
          <p:nvPr/>
        </p:nvSpPr>
        <p:spPr>
          <a:xfrm>
            <a:off x="594360" y="3977640"/>
            <a:ext cx="5486400" cy="777240"/>
          </a:xfrm>
          <a:prstGeom prst="rect">
            <a:avLst/>
          </a:prstGeom>
          <a:solidFill>
            <a:srgbClr val="2A2620"/>
          </a:solidFill>
          <a:ln w="9525">
            <a:solidFill>
              <a:srgbClr val="3A362F"/>
            </a:solidFill>
            <a:prstDash val="solid"/>
          </a:ln>
        </p:spPr>
      </p:sp>
      <p:sp>
        <p:nvSpPr>
          <p:cNvPr id="32" name="Text 30"/>
          <p:cNvSpPr txBox="1"/>
          <p:nvPr/>
        </p:nvSpPr>
        <p:spPr>
          <a:xfrm>
            <a:off x="822960" y="4133088"/>
            <a:ext cx="731520" cy="457200"/>
          </a:xfrm>
          <a:prstGeom prst="rect">
            <a:avLst/>
          </a:prstGeom>
          <a:noFill/>
          <a:ln/>
        </p:spPr>
        <p:txBody>
          <a:bodyPr wrap="square" lIns="0" tIns="0" rIns="0" bIns="0" rtlCol="0" anchor="ctr"/>
          <a:lstStyle/>
          <a:p>
            <a:pPr indent="0" marL="0">
              <a:buNone/>
            </a:pPr>
            <a:r>
              <a:rPr lang="en-US" sz="2200" dirty="0">
                <a:solidFill>
                  <a:srgbClr val="FF5A1F"/>
                </a:solidFill>
                <a:latin typeface="Archivo Black" pitchFamily="34" charset="0"/>
                <a:ea typeface="Archivo Black" pitchFamily="34" charset="-122"/>
                <a:cs typeface="Archivo Black" pitchFamily="34" charset="-120"/>
              </a:rPr>
              <a:t>T2</a:t>
            </a:r>
            <a:endParaRPr lang="en-US" sz="2200" dirty="0"/>
          </a:p>
        </p:txBody>
      </p:sp>
      <p:sp>
        <p:nvSpPr>
          <p:cNvPr id="33" name="Text 31"/>
          <p:cNvSpPr txBox="1"/>
          <p:nvPr/>
        </p:nvSpPr>
        <p:spPr>
          <a:xfrm>
            <a:off x="1600200" y="40690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Act</a:t>
            </a:r>
            <a:endParaRPr lang="en-US" sz="1400" dirty="0"/>
          </a:p>
        </p:txBody>
      </p:sp>
      <p:sp>
        <p:nvSpPr>
          <p:cNvPr id="34" name="Text 32"/>
          <p:cNvSpPr txBox="1"/>
          <p:nvPr/>
        </p:nvSpPr>
        <p:spPr>
          <a:xfrm>
            <a:off x="1600200" y="43616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Only if the user switches it on. Even then it prepares a confirmation and stops.</a:t>
            </a:r>
            <a:endParaRPr lang="en-US" sz="1200" dirty="0"/>
          </a:p>
        </p:txBody>
      </p:sp>
      <p:sp>
        <p:nvSpPr>
          <p:cNvPr id="35" name="Text 33"/>
          <p:cNvSpPr txBox="1"/>
          <p:nvPr/>
        </p:nvSpPr>
        <p:spPr>
          <a:xfrm>
            <a:off x="6446520" y="2148840"/>
            <a:ext cx="512064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WE PLANTED A REAL ATTACK IN OUR OWN LEDGER</a:t>
            </a:r>
            <a:endParaRPr lang="en-US" sz="1100" dirty="0"/>
          </a:p>
        </p:txBody>
      </p:sp>
      <p:sp>
        <p:nvSpPr>
          <p:cNvPr id="36" name="Shape 34"/>
          <p:cNvSpPr/>
          <p:nvPr/>
        </p:nvSpPr>
        <p:spPr>
          <a:xfrm>
            <a:off x="6446520" y="2487168"/>
            <a:ext cx="5148072" cy="1325880"/>
          </a:xfrm>
          <a:prstGeom prst="rect">
            <a:avLst/>
          </a:prstGeom>
          <a:solidFill>
            <a:srgbClr val="1E1C19"/>
          </a:solidFill>
          <a:ln w="12700">
            <a:solidFill>
              <a:srgbClr val="FF5A1F"/>
            </a:solidFill>
            <a:prstDash val="solid"/>
          </a:ln>
        </p:spPr>
      </p:sp>
      <p:sp>
        <p:nvSpPr>
          <p:cNvPr id="37" name="Text 35"/>
          <p:cNvSpPr txBox="1"/>
          <p:nvPr/>
        </p:nvSpPr>
        <p:spPr>
          <a:xfrm>
            <a:off x="6629400" y="2578608"/>
            <a:ext cx="4800600" cy="1170432"/>
          </a:xfrm>
          <a:prstGeom prst="rect">
            <a:avLst/>
          </a:prstGeom>
          <a:noFill/>
          <a:ln/>
        </p:spPr>
        <p:txBody>
          <a:bodyPr wrap="square" lIns="0" tIns="0" rIns="0" bIns="0" rtlCol="0" anchor="ctr"/>
          <a:lstStyle/>
          <a:p>
            <a:pPr indent="0" marL="0">
              <a:lnSpc>
                <a:spcPct val="100000"/>
              </a:lnSpc>
              <a:buNone/>
            </a:pPr>
            <a:r>
              <a:rPr lang="en-US" sz="105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050" dirty="0"/>
          </a:p>
        </p:txBody>
      </p:sp>
      <p:sp>
        <p:nvSpPr>
          <p:cNvPr id="38" name="Text 36"/>
          <p:cNvSpPr txBox="1"/>
          <p:nvPr/>
        </p:nvSpPr>
        <p:spPr>
          <a:xfrm>
            <a:off x="6446520" y="3950208"/>
            <a:ext cx="5148072" cy="868680"/>
          </a:xfrm>
          <a:prstGeom prst="rect">
            <a:avLst/>
          </a:prstGeom>
          <a:noFill/>
          <a:ln/>
        </p:spPr>
        <p:txBody>
          <a:bodyPr wrap="square" lIns="0" tIns="0" rIns="0" bIns="0" rtlCol="0" anchor="t"/>
          <a:lstStyle/>
          <a:p>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Detected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in 6 languages, including disguised spellings.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Redacted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while "please gift wrap" survives.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Reported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to the seller as a security event.</a:t>
            </a:r>
            <a:endParaRPr lang="en-US" sz="1250" dirty="0"/>
          </a:p>
        </p:txBody>
      </p:sp>
      <p:sp>
        <p:nvSpPr>
          <p:cNvPr id="39" name="Shape 37"/>
          <p:cNvSpPr/>
          <p:nvPr/>
        </p:nvSpPr>
        <p:spPr>
          <a:xfrm>
            <a:off x="594360" y="5074920"/>
            <a:ext cx="11002975" cy="1051560"/>
          </a:xfrm>
          <a:prstGeom prst="rect">
            <a:avLst/>
          </a:prstGeom>
          <a:solidFill>
            <a:srgbClr val="FF5A1F"/>
          </a:solidFill>
          <a:ln/>
        </p:spPr>
      </p:sp>
      <p:sp>
        <p:nvSpPr>
          <p:cNvPr id="40" name="Text 38"/>
          <p:cNvSpPr txBox="1"/>
          <p:nvPr/>
        </p:nvSpPr>
        <p:spPr>
          <a:xfrm>
            <a:off x="914400" y="5184648"/>
            <a:ext cx="10362895" cy="8686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confirm_action is not a registered agent tool.</a:t>
            </a:r>
            <a:endParaRPr lang="en-US" sz="1300" dirty="0"/>
          </a:p>
          <a:p>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A fully prompt-injected model has nothing to call. Tokens are single-use, expire, and are bound to exactly what the human saw. Each session reads only its own audit records.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HOW ACCURATE IS IT? TWO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HONEST</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NUMBERS.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56120" y="6460236"/>
            <a:ext cx="137160" cy="137160"/>
          </a:xfrm>
          <a:prstGeom prst="ellipse">
            <a:avLst/>
          </a:prstGeom>
          <a:solidFill>
            <a:srgbClr val="FF5A1F"/>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11 / 13</a:t>
            </a:r>
            <a:endParaRPr lang="en-US" sz="1000" dirty="0"/>
          </a:p>
        </p:txBody>
      </p:sp>
      <p:sp>
        <p:nvSpPr>
          <p:cNvPr id="22" name="Text 20"/>
          <p:cNvSpPr txBox="1"/>
          <p:nvPr/>
        </p:nvSpPr>
        <p:spPr>
          <a:xfrm>
            <a:off x="594360" y="1572768"/>
            <a:ext cx="10607040" cy="50292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backtest on data that matches the model's own assumptions only proves consistency. So we broke the assumptions on purpose and measured again.</a:t>
            </a:r>
            <a:endParaRPr lang="en-US" sz="1400" dirty="0"/>
          </a:p>
        </p:txBody>
      </p:sp>
      <p:sp>
        <p:nvSpPr>
          <p:cNvPr id="23" name="Text 21"/>
          <p:cNvSpPr txBox="1"/>
          <p:nvPr/>
        </p:nvSpPr>
        <p:spPr>
          <a:xfrm>
            <a:off x="594360" y="2240280"/>
            <a:ext cx="4206240" cy="822960"/>
          </a:xfrm>
          <a:prstGeom prst="rect">
            <a:avLst/>
          </a:prstGeom>
          <a:noFill/>
          <a:ln/>
        </p:spPr>
        <p:txBody>
          <a:bodyPr wrap="square" lIns="0" tIns="0" rIns="0" bIns="0" rtlCol="0" anchor="b"/>
          <a:lstStyle/>
          <a:p>
            <a:pPr indent="0" marL="0">
              <a:buNone/>
            </a:pPr>
            <a:r>
              <a:rPr lang="en-US" sz="5400" dirty="0">
                <a:solidFill>
                  <a:srgbClr val="141414"/>
                </a:solidFill>
                <a:latin typeface="Archivo Black" pitchFamily="34" charset="0"/>
                <a:ea typeface="Archivo Black" pitchFamily="34" charset="-122"/>
                <a:cs typeface="Archivo Black" pitchFamily="34" charset="-120"/>
              </a:rPr>
              <a:t>3.1%</a:t>
            </a:r>
            <a:endParaRPr lang="en-US" sz="5400" dirty="0"/>
          </a:p>
        </p:txBody>
      </p:sp>
      <p:sp>
        <p:nvSpPr>
          <p:cNvPr id="24" name="Text 22"/>
          <p:cNvSpPr txBox="1"/>
          <p:nvPr/>
        </p:nvSpPr>
        <p:spPr>
          <a:xfrm>
            <a:off x="594360" y="31363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consistency check: mean error on data that matches the model's assumptions</a:t>
            </a:r>
            <a:endParaRPr lang="en-US" sz="1200" dirty="0"/>
          </a:p>
        </p:txBody>
      </p:sp>
      <p:sp>
        <p:nvSpPr>
          <p:cNvPr id="25" name="Text 23"/>
          <p:cNvSpPr txBox="1"/>
          <p:nvPr/>
        </p:nvSpPr>
        <p:spPr>
          <a:xfrm>
            <a:off x="594360" y="3840480"/>
            <a:ext cx="4206240" cy="822960"/>
          </a:xfrm>
          <a:prstGeom prst="rect">
            <a:avLst/>
          </a:prstGeom>
          <a:noFill/>
          <a:ln/>
        </p:spPr>
        <p:txBody>
          <a:bodyPr wrap="square" lIns="0" tIns="0" rIns="0" bIns="0" rtlCol="0" anchor="b"/>
          <a:lstStyle/>
          <a:p>
            <a:pPr indent="0" marL="0">
              <a:buNone/>
            </a:pPr>
            <a:r>
              <a:rPr lang="en-US" sz="5400" dirty="0">
                <a:solidFill>
                  <a:srgbClr val="FF5A1F"/>
                </a:solidFill>
                <a:latin typeface="Archivo Black" pitchFamily="34" charset="0"/>
                <a:ea typeface="Archivo Black" pitchFamily="34" charset="-122"/>
                <a:cs typeface="Archivo Black" pitchFamily="34" charset="-120"/>
              </a:rPr>
              <a:t>19.4%</a:t>
            </a:r>
            <a:endParaRPr lang="en-US" sz="5400" dirty="0"/>
          </a:p>
        </p:txBody>
      </p:sp>
      <p:sp>
        <p:nvSpPr>
          <p:cNvPr id="26" name="Text 24"/>
          <p:cNvSpPr txBox="1"/>
          <p:nvPr/>
        </p:nvSpPr>
        <p:spPr>
          <a:xfrm>
            <a:off x="594360" y="47365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when payouts arrive 0-3 days late: the real weak spot, published</a:t>
            </a:r>
            <a:endParaRPr lang="en-US" sz="1200" dirty="0"/>
          </a:p>
        </p:txBody>
      </p:sp>
      <p:graphicFrame>
        <p:nvGraphicFramePr>
          <p:cNvPr id="27" name="Chart 0" descr=""/>
          <p:cNvGraphicFramePr/>
          <p:nvPr/>
        </p:nvGraphicFramePr>
        <p:xfrm>
          <a:off x="5029200" y="2148840"/>
          <a:ext cx="6583680" cy="310896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594360" y="5486400"/>
            <a:ext cx="11002975" cy="6400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Turned into a feature: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the what-if simulator lets a seller test late payouts on their own projection instead of trusting one number.  </a:t>
            </a:r>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232 tests · 4,794 simulated transactions · reproducible from the repository.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RELEVANCE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WHO DEPLOYS THIS, AND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WHY THEY WOULD</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92696" y="6496812"/>
            <a:ext cx="64008" cy="64008"/>
          </a:xfrm>
          <a:prstGeom prst="ellipse">
            <a:avLst/>
          </a:prstGeom>
          <a:solidFill>
            <a:srgbClr val="5F594F"/>
          </a:solidFill>
          <a:ln/>
        </p:spPr>
      </p:sp>
      <p:sp>
        <p:nvSpPr>
          <p:cNvPr id="18" name="Shape 16"/>
          <p:cNvSpPr/>
          <p:nvPr/>
        </p:nvSpPr>
        <p:spPr>
          <a:xfrm>
            <a:off x="7311390" y="6460236"/>
            <a:ext cx="137160" cy="137160"/>
          </a:xfrm>
          <a:prstGeom prst="ellipse">
            <a:avLst/>
          </a:prstGeom>
          <a:solidFill>
            <a:srgbClr val="FF5A1F"/>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12 / 13</a:t>
            </a:r>
            <a:endParaRPr lang="en-US" sz="1000" dirty="0"/>
          </a:p>
        </p:txBody>
      </p:sp>
      <p:sp>
        <p:nvSpPr>
          <p:cNvPr id="22" name="Text 20"/>
          <p:cNvSpPr txBox="1"/>
          <p:nvPr/>
        </p:nvSpPr>
        <p:spPr>
          <a:xfrm>
            <a:off x="594360" y="1572768"/>
            <a:ext cx="10607040" cy="411480"/>
          </a:xfrm>
          <a:prstGeom prst="rect">
            <a:avLst/>
          </a:prstGeom>
          <a:noFill/>
          <a:ln/>
        </p:spPr>
        <p:txBody>
          <a:bodyPr wrap="square" lIns="0" tIns="0" rIns="0" bIns="0" rtlCol="0" anchor="ctr"/>
          <a:lstStyle/>
          <a:p>
            <a:pPr indent="0" marL="0">
              <a:buNone/>
            </a:pPr>
            <a:r>
              <a:rPr lang="en-US" sz="1400" dirty="0">
                <a:solidFill>
                  <a:srgbClr val="5F594F"/>
                </a:solidFill>
                <a:latin typeface="Calibri" pitchFamily="34" charset="0"/>
                <a:ea typeface="Calibri" pitchFamily="34" charset="-122"/>
                <a:cs typeface="Calibri" pitchFamily="34" charset="-120"/>
              </a:rPr>
              <a:t>A micro-business will not buy a finance tool. It will use the one inside the bank or marketplace it already has.</a:t>
            </a:r>
            <a:endParaRPr lang="en-US" sz="1400" dirty="0"/>
          </a:p>
        </p:txBody>
      </p:sp>
      <p:sp>
        <p:nvSpPr>
          <p:cNvPr id="23" name="Shape 21"/>
          <p:cNvSpPr/>
          <p:nvPr/>
        </p:nvSpPr>
        <p:spPr>
          <a:xfrm>
            <a:off x="594360" y="2148840"/>
            <a:ext cx="3977640" cy="3246120"/>
          </a:xfrm>
          <a:prstGeom prst="rect">
            <a:avLst/>
          </a:prstGeom>
          <a:solidFill>
            <a:srgbClr val="141414"/>
          </a:solidFill>
          <a:ln/>
        </p:spPr>
      </p:sp>
      <p:sp>
        <p:nvSpPr>
          <p:cNvPr id="24" name="Text 22"/>
          <p:cNvSpPr txBox="1"/>
          <p:nvPr/>
        </p:nvSpPr>
        <p:spPr>
          <a:xfrm>
            <a:off x="868680" y="2331720"/>
            <a:ext cx="3566160" cy="228600"/>
          </a:xfrm>
          <a:prstGeom prst="rect">
            <a:avLst/>
          </a:prstGeom>
          <a:noFill/>
          <a:ln/>
        </p:spPr>
        <p:txBody>
          <a:bodyPr wrap="square" lIns="0" tIns="0" rIns="0" bIns="0" rtlCol="0" anchor="ctr"/>
          <a:lstStyle/>
          <a:p>
            <a:pPr indent="0" marL="0">
              <a:buNone/>
            </a:pPr>
            <a:r>
              <a:rPr lang="en-US" sz="1050" b="1" spc="120" kern="0" dirty="0">
                <a:solidFill>
                  <a:srgbClr val="A39C90"/>
                </a:solidFill>
                <a:latin typeface="Calibri" pitchFamily="34" charset="0"/>
                <a:ea typeface="Calibri" pitchFamily="34" charset="-122"/>
                <a:cs typeface="Calibri" pitchFamily="34" charset="-120"/>
              </a:rPr>
              <a:t>THE SCALE IS ALREADY THERE</a:t>
            </a:r>
            <a:endParaRPr lang="en-US" sz="1050" dirty="0"/>
          </a:p>
        </p:txBody>
      </p:sp>
      <p:sp>
        <p:nvSpPr>
          <p:cNvPr id="25" name="Text 23"/>
          <p:cNvSpPr txBox="1"/>
          <p:nvPr/>
        </p:nvSpPr>
        <p:spPr>
          <a:xfrm>
            <a:off x="868680" y="2606040"/>
            <a:ext cx="3474720" cy="518160"/>
          </a:xfrm>
          <a:prstGeom prst="rect">
            <a:avLst/>
          </a:prstGeom>
          <a:noFill/>
          <a:ln/>
        </p:spPr>
        <p:txBody>
          <a:bodyPr wrap="square" lIns="0" tIns="0" rIns="0" bIns="0" rtlCol="0" anchor="b"/>
          <a:lstStyle/>
          <a:p>
            <a:pPr indent="0" marL="0">
              <a:buNone/>
            </a:pPr>
            <a:r>
              <a:rPr lang="en-US" sz="3400" dirty="0">
                <a:solidFill>
                  <a:srgbClr val="FF5A1F"/>
                </a:solidFill>
                <a:latin typeface="Archivo Black" pitchFamily="34" charset="0"/>
                <a:ea typeface="Archivo Black" pitchFamily="34" charset="-122"/>
                <a:cs typeface="Archivo Black" pitchFamily="34" charset="-120"/>
              </a:rPr>
              <a:t>7m</a:t>
            </a:r>
            <a:endParaRPr lang="en-US" sz="3400" dirty="0"/>
          </a:p>
        </p:txBody>
      </p:sp>
      <p:sp>
        <p:nvSpPr>
          <p:cNvPr id="26" name="Text 24"/>
          <p:cNvSpPr txBox="1"/>
          <p:nvPr/>
        </p:nvSpPr>
        <p:spPr>
          <a:xfrm>
            <a:off x="868680" y="3197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small and micro enterprises served by WeBank, end of 2025</a:t>
            </a:r>
            <a:endParaRPr lang="en-US" sz="1200" dirty="0"/>
          </a:p>
        </p:txBody>
      </p:sp>
      <p:sp>
        <p:nvSpPr>
          <p:cNvPr id="27" name="Text 25"/>
          <p:cNvSpPr txBox="1"/>
          <p:nvPr/>
        </p:nvSpPr>
        <p:spPr>
          <a:xfrm>
            <a:off x="868680" y="3749040"/>
            <a:ext cx="3474720" cy="518160"/>
          </a:xfrm>
          <a:prstGeom prst="rect">
            <a:avLst/>
          </a:prstGeom>
          <a:noFill/>
          <a:ln/>
        </p:spPr>
        <p:txBody>
          <a:bodyPr wrap="square" lIns="0" tIns="0" rIns="0" bIns="0" rtlCol="0" anchor="b"/>
          <a:lstStyle/>
          <a:p>
            <a:pPr indent="0" marL="0">
              <a:buNone/>
            </a:pPr>
            <a:r>
              <a:rPr lang="en-US" sz="3400" dirty="0">
                <a:solidFill>
                  <a:srgbClr val="F4EFE6"/>
                </a:solidFill>
                <a:latin typeface="Archivo Black" pitchFamily="34" charset="0"/>
                <a:ea typeface="Archivo Black" pitchFamily="34" charset="-122"/>
                <a:cs typeface="Archivo Black" pitchFamily="34" charset="-120"/>
              </a:rPr>
              <a:t>430m</a:t>
            </a:r>
            <a:endParaRPr lang="en-US" sz="3400" dirty="0"/>
          </a:p>
        </p:txBody>
      </p:sp>
      <p:sp>
        <p:nvSpPr>
          <p:cNvPr id="28" name="Text 26"/>
          <p:cNvSpPr txBox="1"/>
          <p:nvPr/>
        </p:nvSpPr>
        <p:spPr>
          <a:xfrm>
            <a:off x="868680" y="4340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individual customers, same date</a:t>
            </a:r>
            <a:endParaRPr lang="en-US" sz="1200" dirty="0"/>
          </a:p>
        </p:txBody>
      </p:sp>
      <p:sp>
        <p:nvSpPr>
          <p:cNvPr id="29" name="Text 27"/>
          <p:cNvSpPr txBox="1"/>
          <p:nvPr/>
        </p:nvSpPr>
        <p:spPr>
          <a:xfrm>
            <a:off x="868680" y="4846320"/>
            <a:ext cx="3474720" cy="502920"/>
          </a:xfrm>
          <a:prstGeom prst="rect">
            <a:avLst/>
          </a:prstGeom>
          <a:noFill/>
          <a:ln/>
        </p:spPr>
        <p:txBody>
          <a:bodyPr wrap="square" lIns="0" tIns="0" rIns="0" bIns="0" rtlCol="0" anchor="t"/>
          <a:lstStyle/>
          <a:p>
            <a:pPr indent="0" marL="0">
              <a:lnSpc>
                <a:spcPct val="100000"/>
              </a:lnSpc>
              <a:buNone/>
            </a:pPr>
            <a:r>
              <a:rPr lang="en-US" sz="1050" b="1" dirty="0">
                <a:solidFill>
                  <a:srgbClr val="A39C90"/>
                </a:solidFill>
                <a:latin typeface="Calibri" pitchFamily="34" charset="0"/>
                <a:ea typeface="Calibri" pitchFamily="34" charset="-122"/>
                <a:cs typeface="Calibri" pitchFamily="34" charset="-120"/>
              </a:rPr>
              <a:t>Stated aim: </a:t>
            </a:r>
            <a:pPr indent="0" marL="0">
              <a:lnSpc>
                <a:spcPct val="100000"/>
              </a:lnSpc>
              <a:buNone/>
            </a:pPr>
            <a:r>
              <a:rPr lang="en-US" sz="1050" i="1" dirty="0">
                <a:solidFill>
                  <a:srgbClr val="A39C90"/>
                </a:solidFill>
                <a:latin typeface="Calibri" pitchFamily="34" charset="0"/>
                <a:ea typeface="Calibri" pitchFamily="34" charset="-122"/>
                <a:cs typeface="Calibri" pitchFamily="34" charset="-120"/>
              </a:rPr>
              <a:t>"strives to provide more convenient financial services to micro-, small- and medium-sized enterprises (MSMEs) and the general public"</a:t>
            </a:r>
            <a:endParaRPr lang="en-US" sz="1050" dirty="0"/>
          </a:p>
        </p:txBody>
      </p:sp>
      <p:sp>
        <p:nvSpPr>
          <p:cNvPr id="30" name="Shape 28"/>
          <p:cNvSpPr/>
          <p:nvPr/>
        </p:nvSpPr>
        <p:spPr>
          <a:xfrm>
            <a:off x="4983480" y="2148840"/>
            <a:ext cx="6611112" cy="0"/>
          </a:xfrm>
          <a:prstGeom prst="line">
            <a:avLst/>
          </a:prstGeom>
          <a:noFill/>
          <a:ln w="9525">
            <a:solidFill>
              <a:srgbClr val="D6CCBA"/>
            </a:solidFill>
            <a:prstDash val="solid"/>
          </a:ln>
        </p:spPr>
      </p:sp>
      <p:sp>
        <p:nvSpPr>
          <p:cNvPr id="31" name="Text 29"/>
          <p:cNvSpPr txBox="1"/>
          <p:nvPr/>
        </p:nvSpPr>
        <p:spPr>
          <a:xfrm>
            <a:off x="4983480" y="225856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5669280" y="227685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Fewer bad loans</a:t>
            </a:r>
            <a:endParaRPr lang="en-US" sz="1500" dirty="0"/>
          </a:p>
        </p:txBody>
      </p:sp>
      <p:sp>
        <p:nvSpPr>
          <p:cNvPr id="33" name="Text 31"/>
          <p:cNvSpPr txBox="1"/>
          <p:nvPr/>
        </p:nvSpPr>
        <p:spPr>
          <a:xfrm>
            <a:off x="5669280" y="260604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Free options first, repayments simulated before any product. A business that should not borrow is told so, in its own numbers.</a:t>
            </a:r>
            <a:endParaRPr lang="en-US" sz="1250" dirty="0"/>
          </a:p>
        </p:txBody>
      </p:sp>
      <p:sp>
        <p:nvSpPr>
          <p:cNvPr id="34" name="Shape 32"/>
          <p:cNvSpPr/>
          <p:nvPr/>
        </p:nvSpPr>
        <p:spPr>
          <a:xfrm>
            <a:off x="4983480" y="3246120"/>
            <a:ext cx="6611112" cy="0"/>
          </a:xfrm>
          <a:prstGeom prst="line">
            <a:avLst/>
          </a:prstGeom>
          <a:noFill/>
          <a:ln w="9525">
            <a:solidFill>
              <a:srgbClr val="D6CCBA"/>
            </a:solidFill>
            <a:prstDash val="solid"/>
          </a:ln>
        </p:spPr>
      </p:sp>
      <p:sp>
        <p:nvSpPr>
          <p:cNvPr id="35" name="Text 33"/>
          <p:cNvSpPr txBox="1"/>
          <p:nvPr/>
        </p:nvSpPr>
        <p:spPr>
          <a:xfrm>
            <a:off x="4983480" y="335584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5669280" y="337413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Advice at the cost of a tool call</a:t>
            </a:r>
            <a:endParaRPr lang="en-US" sz="1500" dirty="0"/>
          </a:p>
        </p:txBody>
      </p:sp>
      <p:sp>
        <p:nvSpPr>
          <p:cNvPr id="37" name="Text 35"/>
          <p:cNvSpPr txBox="1"/>
          <p:nvPr/>
        </p:nvSpPr>
        <p:spPr>
          <a:xfrm>
            <a:off x="5669280" y="370332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A relationship manager per micro-business does not scale. A forecast, an explained rejection and a simulator do.</a:t>
            </a:r>
            <a:endParaRPr lang="en-US" sz="1250" dirty="0"/>
          </a:p>
        </p:txBody>
      </p:sp>
      <p:sp>
        <p:nvSpPr>
          <p:cNvPr id="38" name="Shape 36"/>
          <p:cNvSpPr/>
          <p:nvPr/>
        </p:nvSpPr>
        <p:spPr>
          <a:xfrm>
            <a:off x="4983480" y="4343400"/>
            <a:ext cx="6611112" cy="0"/>
          </a:xfrm>
          <a:prstGeom prst="line">
            <a:avLst/>
          </a:prstGeom>
          <a:noFill/>
          <a:ln w="9525">
            <a:solidFill>
              <a:srgbClr val="D6CCBA"/>
            </a:solidFill>
            <a:prstDash val="solid"/>
          </a:ln>
        </p:spPr>
      </p:sp>
      <p:sp>
        <p:nvSpPr>
          <p:cNvPr id="39" name="Text 37"/>
          <p:cNvSpPr txBox="1"/>
          <p:nvPr/>
        </p:nvSpPr>
        <p:spPr>
          <a:xfrm>
            <a:off x="4983480" y="445312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5669280" y="447141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An AI a supervisor can inspect</a:t>
            </a:r>
            <a:endParaRPr lang="en-US" sz="1500" dirty="0"/>
          </a:p>
        </p:txBody>
      </p:sp>
      <p:sp>
        <p:nvSpPr>
          <p:cNvPr id="41" name="Text 39"/>
          <p:cNvSpPr txBox="1"/>
          <p:nvPr/>
        </p:nvSpPr>
        <p:spPr>
          <a:xfrm>
            <a:off x="5669280" y="480060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Permission tiers, human-only confirmation, and a hash-chained record of every decision. Deployable, not just interesting.</a:t>
            </a:r>
            <a:endParaRPr lang="en-US" sz="1250" dirty="0"/>
          </a:p>
        </p:txBody>
      </p:sp>
      <p:sp>
        <p:nvSpPr>
          <p:cNvPr id="42" name="Text 40"/>
          <p:cNvSpPr txBox="1"/>
          <p:nvPr/>
        </p:nvSpPr>
        <p:spPr>
          <a:xfrm>
            <a:off x="594360" y="5577840"/>
            <a:ext cx="11002975" cy="64008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The mechanic travels: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a payout hold is a payout hold in Shenzhen, Jakarta or Berlin. Between markets only the product catalog and the currency change, and both are data files, not code.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3" name="Text 1"/>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4" name="Shape 2"/>
          <p:cNvSpPr/>
          <p:nvPr/>
        </p:nvSpPr>
        <p:spPr>
          <a:xfrm>
            <a:off x="4572000" y="6528816"/>
            <a:ext cx="3063240" cy="0"/>
          </a:xfrm>
          <a:prstGeom prst="line">
            <a:avLst/>
          </a:prstGeom>
          <a:noFill/>
          <a:ln w="12700">
            <a:solidFill>
              <a:srgbClr val="4A463F"/>
            </a:solidFill>
            <a:prstDash val="solid"/>
          </a:ln>
        </p:spPr>
      </p:sp>
      <p:sp>
        <p:nvSpPr>
          <p:cNvPr id="5" name="Shape 3"/>
          <p:cNvSpPr/>
          <p:nvPr/>
        </p:nvSpPr>
        <p:spPr>
          <a:xfrm>
            <a:off x="4539996" y="6496812"/>
            <a:ext cx="64008" cy="64008"/>
          </a:xfrm>
          <a:prstGeom prst="ellipse">
            <a:avLst/>
          </a:prstGeom>
          <a:solidFill>
            <a:srgbClr val="A39C90"/>
          </a:solidFill>
          <a:ln/>
        </p:spPr>
      </p:sp>
      <p:sp>
        <p:nvSpPr>
          <p:cNvPr id="6" name="Shape 4"/>
          <p:cNvSpPr/>
          <p:nvPr/>
        </p:nvSpPr>
        <p:spPr>
          <a:xfrm>
            <a:off x="4795266" y="6496812"/>
            <a:ext cx="64008" cy="64008"/>
          </a:xfrm>
          <a:prstGeom prst="ellipse">
            <a:avLst/>
          </a:prstGeom>
          <a:solidFill>
            <a:srgbClr val="A39C90"/>
          </a:solidFill>
          <a:ln/>
        </p:spPr>
      </p:sp>
      <p:sp>
        <p:nvSpPr>
          <p:cNvPr id="7" name="Shape 5"/>
          <p:cNvSpPr/>
          <p:nvPr/>
        </p:nvSpPr>
        <p:spPr>
          <a:xfrm>
            <a:off x="5050536" y="6496812"/>
            <a:ext cx="64008" cy="64008"/>
          </a:xfrm>
          <a:prstGeom prst="ellipse">
            <a:avLst/>
          </a:prstGeom>
          <a:solidFill>
            <a:srgbClr val="A39C90"/>
          </a:solidFill>
          <a:ln/>
        </p:spPr>
      </p:sp>
      <p:sp>
        <p:nvSpPr>
          <p:cNvPr id="8" name="Shape 6"/>
          <p:cNvSpPr/>
          <p:nvPr/>
        </p:nvSpPr>
        <p:spPr>
          <a:xfrm>
            <a:off x="5305806" y="6496812"/>
            <a:ext cx="64008" cy="64008"/>
          </a:xfrm>
          <a:prstGeom prst="ellipse">
            <a:avLst/>
          </a:prstGeom>
          <a:solidFill>
            <a:srgbClr val="A39C90"/>
          </a:solidFill>
          <a:ln/>
        </p:spPr>
      </p:sp>
      <p:sp>
        <p:nvSpPr>
          <p:cNvPr id="9" name="Shape 7"/>
          <p:cNvSpPr/>
          <p:nvPr/>
        </p:nvSpPr>
        <p:spPr>
          <a:xfrm>
            <a:off x="5561076" y="6496812"/>
            <a:ext cx="64008" cy="64008"/>
          </a:xfrm>
          <a:prstGeom prst="ellipse">
            <a:avLst/>
          </a:prstGeom>
          <a:solidFill>
            <a:srgbClr val="A39C90"/>
          </a:solidFill>
          <a:ln/>
        </p:spPr>
      </p:sp>
      <p:sp>
        <p:nvSpPr>
          <p:cNvPr id="10" name="Shape 8"/>
          <p:cNvSpPr/>
          <p:nvPr/>
        </p:nvSpPr>
        <p:spPr>
          <a:xfrm>
            <a:off x="5816346" y="6496812"/>
            <a:ext cx="64008" cy="64008"/>
          </a:xfrm>
          <a:prstGeom prst="ellipse">
            <a:avLst/>
          </a:prstGeom>
          <a:solidFill>
            <a:srgbClr val="A39C90"/>
          </a:solidFill>
          <a:ln/>
        </p:spPr>
      </p:sp>
      <p:sp>
        <p:nvSpPr>
          <p:cNvPr id="11" name="Shape 9"/>
          <p:cNvSpPr/>
          <p:nvPr/>
        </p:nvSpPr>
        <p:spPr>
          <a:xfrm>
            <a:off x="6071616" y="6496812"/>
            <a:ext cx="64008" cy="64008"/>
          </a:xfrm>
          <a:prstGeom prst="ellipse">
            <a:avLst/>
          </a:prstGeom>
          <a:solidFill>
            <a:srgbClr val="A39C90"/>
          </a:solidFill>
          <a:ln/>
        </p:spPr>
      </p:sp>
      <p:sp>
        <p:nvSpPr>
          <p:cNvPr id="12" name="Shape 10"/>
          <p:cNvSpPr/>
          <p:nvPr/>
        </p:nvSpPr>
        <p:spPr>
          <a:xfrm>
            <a:off x="6326886" y="6496812"/>
            <a:ext cx="64008" cy="64008"/>
          </a:xfrm>
          <a:prstGeom prst="ellipse">
            <a:avLst/>
          </a:prstGeom>
          <a:solidFill>
            <a:srgbClr val="A39C90"/>
          </a:solidFill>
          <a:ln/>
        </p:spPr>
      </p:sp>
      <p:sp>
        <p:nvSpPr>
          <p:cNvPr id="13" name="Shape 11"/>
          <p:cNvSpPr/>
          <p:nvPr/>
        </p:nvSpPr>
        <p:spPr>
          <a:xfrm>
            <a:off x="6582156" y="6496812"/>
            <a:ext cx="64008" cy="64008"/>
          </a:xfrm>
          <a:prstGeom prst="ellipse">
            <a:avLst/>
          </a:prstGeom>
          <a:solidFill>
            <a:srgbClr val="A39C90"/>
          </a:solidFill>
          <a:ln/>
        </p:spPr>
      </p:sp>
      <p:sp>
        <p:nvSpPr>
          <p:cNvPr id="14" name="Shape 12"/>
          <p:cNvSpPr/>
          <p:nvPr/>
        </p:nvSpPr>
        <p:spPr>
          <a:xfrm>
            <a:off x="6837426" y="6496812"/>
            <a:ext cx="64008" cy="64008"/>
          </a:xfrm>
          <a:prstGeom prst="ellipse">
            <a:avLst/>
          </a:prstGeom>
          <a:solidFill>
            <a:srgbClr val="A39C90"/>
          </a:solidFill>
          <a:ln/>
        </p:spPr>
      </p:sp>
      <p:sp>
        <p:nvSpPr>
          <p:cNvPr id="15" name="Shape 13"/>
          <p:cNvSpPr/>
          <p:nvPr/>
        </p:nvSpPr>
        <p:spPr>
          <a:xfrm>
            <a:off x="7092696" y="6496812"/>
            <a:ext cx="64008" cy="64008"/>
          </a:xfrm>
          <a:prstGeom prst="ellipse">
            <a:avLst/>
          </a:prstGeom>
          <a:solidFill>
            <a:srgbClr val="A39C90"/>
          </a:solidFill>
          <a:ln/>
        </p:spPr>
      </p:sp>
      <p:sp>
        <p:nvSpPr>
          <p:cNvPr id="16" name="Shape 14"/>
          <p:cNvSpPr/>
          <p:nvPr/>
        </p:nvSpPr>
        <p:spPr>
          <a:xfrm>
            <a:off x="7347966" y="6496812"/>
            <a:ext cx="64008" cy="64008"/>
          </a:xfrm>
          <a:prstGeom prst="ellipse">
            <a:avLst/>
          </a:prstGeom>
          <a:solidFill>
            <a:srgbClr val="A39C90"/>
          </a:solidFill>
          <a:ln/>
        </p:spPr>
      </p:sp>
      <p:sp>
        <p:nvSpPr>
          <p:cNvPr id="17" name="Shape 15"/>
          <p:cNvSpPr/>
          <p:nvPr/>
        </p:nvSpPr>
        <p:spPr>
          <a:xfrm>
            <a:off x="7566660" y="6460236"/>
            <a:ext cx="137160" cy="137160"/>
          </a:xfrm>
          <a:prstGeom prst="ellipse">
            <a:avLst/>
          </a:prstGeom>
          <a:solidFill>
            <a:srgbClr val="FF5A1F"/>
          </a:solidFill>
          <a:ln/>
        </p:spPr>
      </p:sp>
      <p:sp>
        <p:nvSpPr>
          <p:cNvPr id="18" name="Text 16"/>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19" name="Text 17"/>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13 / 13</a:t>
            </a:r>
            <a:endParaRPr lang="en-US" sz="1000" dirty="0"/>
          </a:p>
        </p:txBody>
      </p:sp>
      <p:sp>
        <p:nvSpPr>
          <p:cNvPr id="20" name="Text 18"/>
          <p:cNvSpPr txBox="1"/>
          <p:nvPr/>
        </p:nvSpPr>
        <p:spPr>
          <a:xfrm>
            <a:off x="594360" y="1371600"/>
            <a:ext cx="10515600" cy="1828800"/>
          </a:xfrm>
          <a:prstGeom prst="rect">
            <a:avLst/>
          </a:prstGeom>
          <a:noFill/>
          <a:ln/>
        </p:spPr>
        <p:txBody>
          <a:bodyPr wrap="square" lIns="0" tIns="0" rIns="0" bIns="0" rtlCol="0" anchor="t"/>
          <a:lstStyle/>
          <a:p>
            <a:pPr indent="0" marL="0">
              <a:lnSpc>
                <a:spcPct val="95000"/>
              </a:lnSpc>
              <a:buNone/>
            </a:pPr>
            <a:r>
              <a:rPr lang="en-US" sz="4400" dirty="0">
                <a:solidFill>
                  <a:srgbClr val="F4EFE6"/>
                </a:solidFill>
                <a:latin typeface="Archivo Black" pitchFamily="34" charset="0"/>
                <a:ea typeface="Archivo Black" pitchFamily="34" charset="-122"/>
                <a:cs typeface="Archivo Black" pitchFamily="34" charset="-120"/>
              </a:rPr>
              <a:t>AN AI PARTICIPANT THAT KNOWS WHAT IT </a:t>
            </a:r>
            <a:pPr indent="0" marL="0">
              <a:lnSpc>
                <a:spcPct val="95000"/>
              </a:lnSpc>
              <a:buNone/>
            </a:pPr>
            <a:r>
              <a:rPr lang="en-US" sz="4400" dirty="0">
                <a:solidFill>
                  <a:srgbClr val="FF5A1F"/>
                </a:solidFill>
                <a:latin typeface="Archivo Black" pitchFamily="34" charset="0"/>
                <a:ea typeface="Archivo Black" pitchFamily="34" charset="-122"/>
                <a:cs typeface="Archivo Black" pitchFamily="34" charset="-120"/>
              </a:rPr>
              <a:t>MUST NOT DO</a:t>
            </a:r>
            <a:endParaRPr lang="en-US" sz="4400" dirty="0"/>
          </a:p>
        </p:txBody>
      </p:sp>
      <p:sp>
        <p:nvSpPr>
          <p:cNvPr id="21" name="Text 19"/>
          <p:cNvSpPr txBox="1"/>
          <p:nvPr/>
        </p:nvSpPr>
        <p:spPr>
          <a:xfrm>
            <a:off x="594360" y="3429000"/>
            <a:ext cx="9601200" cy="822960"/>
          </a:xfrm>
          <a:prstGeom prst="rect">
            <a:avLst/>
          </a:prstGeom>
          <a:noFill/>
          <a:ln/>
        </p:spPr>
        <p:txBody>
          <a:bodyPr wrap="square" lIns="0" tIns="0" rIns="0" bIns="0" rtlCol="0" anchor="ctr"/>
          <a:lstStyle/>
          <a:p>
            <a:pPr indent="0" marL="0">
              <a:lnSpc>
                <a:spcPct val="110000"/>
              </a:lnSpc>
              <a:buNone/>
            </a:pPr>
            <a:r>
              <a:rPr lang="en-US" sz="1700" dirty="0">
                <a:solidFill>
                  <a:srgbClr val="A39C90"/>
                </a:solidFill>
                <a:latin typeface="Calibri" pitchFamily="34" charset="0"/>
                <a:ea typeface="Calibri" pitchFamily="34" charset="-122"/>
                <a:cs typeface="Calibri" pitchFamily="34" charset="-120"/>
              </a:rPr>
              <a:t>It finds the cash gap before it happens, tests every option before recommending it, and is structurally incapable of acting without your approval.</a:t>
            </a:r>
            <a:endParaRPr lang="en-US" sz="1700" dirty="0"/>
          </a:p>
        </p:txBody>
      </p:sp>
      <p:sp>
        <p:nvSpPr>
          <p:cNvPr id="22" name="Shape 20"/>
          <p:cNvSpPr/>
          <p:nvPr/>
        </p:nvSpPr>
        <p:spPr>
          <a:xfrm>
            <a:off x="594360" y="4892040"/>
            <a:ext cx="11000232" cy="0"/>
          </a:xfrm>
          <a:prstGeom prst="line">
            <a:avLst/>
          </a:prstGeom>
          <a:noFill/>
          <a:ln w="19050">
            <a:solidFill>
              <a:srgbClr val="A39C90"/>
            </a:solidFill>
            <a:prstDash val="solid"/>
          </a:ln>
        </p:spPr>
      </p:sp>
      <p:sp>
        <p:nvSpPr>
          <p:cNvPr id="23" name="Shape 21"/>
          <p:cNvSpPr/>
          <p:nvPr/>
        </p:nvSpPr>
        <p:spPr>
          <a:xfrm>
            <a:off x="11430000" y="4727448"/>
            <a:ext cx="329184" cy="329184"/>
          </a:xfrm>
          <a:prstGeom prst="ellipse">
            <a:avLst/>
          </a:prstGeom>
          <a:solidFill>
            <a:srgbClr val="FF5A1F"/>
          </a:solidFill>
          <a:ln/>
        </p:spPr>
      </p:sp>
      <p:sp>
        <p:nvSpPr>
          <p:cNvPr id="24" name="Text 22"/>
          <p:cNvSpPr txBox="1"/>
          <p:nvPr/>
        </p:nvSpPr>
        <p:spPr>
          <a:xfrm>
            <a:off x="594360" y="4480560"/>
            <a:ext cx="2286000" cy="228600"/>
          </a:xfrm>
          <a:prstGeom prst="rect">
            <a:avLst/>
          </a:prstGeom>
          <a:noFill/>
          <a:ln/>
        </p:spPr>
        <p:txBody>
          <a:bodyPr wrap="square" lIns="0" tIns="0" rIns="0" bIns="0" rtlCol="0" anchor="ctr"/>
          <a:lstStyle/>
          <a:p>
            <a:pPr indent="0" marL="0">
              <a:buNone/>
            </a:pPr>
            <a:r>
              <a:rPr lang="en-US" sz="1050" b="1" spc="150" kern="0" dirty="0">
                <a:solidFill>
                  <a:srgbClr val="A39C90"/>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453128"/>
            <a:ext cx="1280160" cy="228600"/>
          </a:xfrm>
          <a:prstGeom prst="rect">
            <a:avLst/>
          </a:prstGeom>
          <a:noFill/>
          <a:ln/>
        </p:spPr>
        <p:txBody>
          <a:bodyPr wrap="square" lIns="0" tIns="0" rIns="0" bIns="0" rtlCol="0" anchor="ctr"/>
          <a:lstStyle/>
          <a:p>
            <a:pPr algn="r" indent="0" marL="0">
              <a:buNone/>
            </a:pPr>
            <a:r>
              <a:rPr lang="en-US" sz="1050" b="1" spc="150" kern="0" dirty="0">
                <a:solidFill>
                  <a:srgbClr val="FF5A1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5440680"/>
            <a:ext cx="4937760" cy="292608"/>
          </a:xfrm>
          <a:prstGeom prst="roundRect">
            <a:avLst>
              <a:gd name="adj" fmla="val 50000"/>
            </a:avLst>
          </a:prstGeom>
          <a:solidFill>
            <a:srgbClr val="FF5A1F"/>
          </a:solidFill>
          <a:ln/>
        </p:spPr>
      </p:sp>
      <p:sp>
        <p:nvSpPr>
          <p:cNvPr id="27" name="Text 25"/>
          <p:cNvSpPr txBox="1"/>
          <p:nvPr/>
        </p:nvSpPr>
        <p:spPr>
          <a:xfrm>
            <a:off x="594360" y="5440680"/>
            <a:ext cx="4937760" cy="292608"/>
          </a:xfrm>
          <a:prstGeom prst="rect">
            <a:avLst/>
          </a:prstGeom>
          <a:noFill/>
          <a:ln/>
        </p:spPr>
        <p:txBody>
          <a:bodyPr wrap="square" lIns="0" tIns="0" rIns="0" bIns="0" rtlCol="0" anchor="ctr"/>
          <a:lstStyle/>
          <a:p>
            <a:pPr algn="ctr" indent="0" marL="0">
              <a:buNone/>
            </a:pPr>
            <a:r>
              <a:rPr lang="en-US" sz="1050" b="1" spc="100" kern="0" dirty="0">
                <a:solidFill>
                  <a:srgbClr val="141414"/>
                </a:solidFill>
                <a:latin typeface="Calibri" pitchFamily="34" charset="0"/>
                <a:ea typeface="Calibri" pitchFamily="34" charset="-122"/>
                <a:cs typeface="Calibri" pitchFamily="34" charset="-120"/>
              </a:rPr>
              <a:t>SIMULATED DATA THROUGHOUT. NOT FINANCIAL ADVICE.</a:t>
            </a:r>
            <a:endParaRPr lang="en-US" sz="1050" dirty="0"/>
          </a:p>
        </p:txBody>
      </p:sp>
      <p:sp>
        <p:nvSpPr>
          <p:cNvPr id="28" name="Text 26"/>
          <p:cNvSpPr txBox="1"/>
          <p:nvPr/>
        </p:nvSpPr>
        <p:spPr>
          <a:xfrm>
            <a:off x="7863840" y="5394960"/>
            <a:ext cx="3730752" cy="411480"/>
          </a:xfrm>
          <a:prstGeom prst="rect">
            <a:avLst/>
          </a:prstGeom>
          <a:noFill/>
          <a:ln/>
        </p:spPr>
        <p:txBody>
          <a:bodyPr wrap="square" lIns="0" tIns="0" rIns="0" bIns="0" rtlCol="0" anchor="ctr"/>
          <a:lstStyle/>
          <a:p>
            <a:pPr algn="r" indent="0" marL="0">
              <a:buNone/>
            </a:pPr>
            <a:r>
              <a:rPr lang="en-US" sz="2200" dirty="0">
                <a:solidFill>
                  <a:srgbClr val="F4EFE6"/>
                </a:solidFill>
                <a:latin typeface="Archivo Black" pitchFamily="34" charset="0"/>
                <a:ea typeface="Archivo Black" pitchFamily="34" charset="-122"/>
                <a:cs typeface="Archivo Black" pitchFamily="34" charset="-120"/>
              </a:rPr>
              <a:t>THANK YOU</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TRUST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SAYING NO,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USEFULLY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A1</a:t>
            </a:r>
            <a:endParaRPr lang="en-US" sz="1000" dirty="0"/>
          </a:p>
        </p:txBody>
      </p:sp>
      <p:sp>
        <p:nvSpPr>
          <p:cNvPr id="6" name="Text 4"/>
          <p:cNvSpPr txBox="1"/>
          <p:nvPr/>
        </p:nvSpPr>
        <p:spPr>
          <a:xfrm>
            <a:off x="594360" y="173736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Lina's Ceramics  ·  Lisbon</a:t>
            </a:r>
            <a:endParaRPr lang="en-US" sz="1250" dirty="0"/>
          </a:p>
        </p:txBody>
      </p:sp>
      <p:sp>
        <p:nvSpPr>
          <p:cNvPr id="7" name="Text 5"/>
          <p:cNvSpPr txBox="1"/>
          <p:nvPr/>
        </p:nvSpPr>
        <p:spPr>
          <a:xfrm>
            <a:off x="594360" y="2057400"/>
            <a:ext cx="5303520" cy="731520"/>
          </a:xfrm>
          <a:prstGeom prst="rect">
            <a:avLst/>
          </a:prstGeom>
          <a:noFill/>
          <a:ln/>
        </p:spPr>
        <p:txBody>
          <a:bodyPr wrap="square" lIns="0" tIns="0" rIns="0" bIns="0" rtlCol="0" anchor="t"/>
          <a:lstStyle/>
          <a:p>
            <a:pPr indent="0" marL="0">
              <a:lnSpc>
                <a:spcPct val="100000"/>
              </a:lnSpc>
              <a:buNone/>
            </a:pPr>
            <a:r>
              <a:rPr lang="en-US" sz="1600" dirty="0">
                <a:solidFill>
                  <a:srgbClr val="141414"/>
                </a:solidFill>
                <a:latin typeface="Archivo Black" pitchFamily="34" charset="0"/>
                <a:ea typeface="Archivo Black" pitchFamily="34" charset="-122"/>
                <a:cs typeface="Archivo Black" pitchFamily="34" charset="-120"/>
              </a:rPr>
              <a:t>8 months trading. 7.9% refund rate. Most commercial products are out of reach.</a:t>
            </a:r>
            <a:endParaRPr lang="en-US" sz="1600" dirty="0"/>
          </a:p>
        </p:txBody>
      </p:sp>
      <p:sp>
        <p:nvSpPr>
          <p:cNvPr id="8" name="Text 6"/>
          <p:cNvSpPr txBox="1"/>
          <p:nvPr/>
        </p:nvSpPr>
        <p:spPr>
          <a:xfrm>
            <a:off x="594360" y="2926080"/>
            <a:ext cx="5303520" cy="1828800"/>
          </a:xfrm>
          <a:prstGeom prst="rect">
            <a:avLst/>
          </a:prstGeom>
          <a:noFill/>
          <a:ln/>
        </p:spPr>
        <p:txBody>
          <a:bodyPr wrap="square" lIns="0" tIns="0" rIns="0" bIns="0" rtlCol="0" anchor="t"/>
          <a:lstStyle/>
          <a:p>
            <a:pPr indent="0" marL="0">
              <a:lnSpc>
                <a:spcPct val="105000"/>
              </a:lnSpc>
              <a:spcAft>
                <a:spcPts val="600"/>
              </a:spcAft>
              <a:buNone/>
            </a:pPr>
            <a:r>
              <a:rPr lang="en-US" sz="1300" i="1" dirty="0">
                <a:solidFill>
                  <a:srgbClr val="5F594F"/>
                </a:solidFill>
                <a:latin typeface="Calibri" pitchFamily="34" charset="0"/>
                <a:ea typeface="Calibri" pitchFamily="34" charset="-122"/>
                <a:cs typeface="Calibri" pitchFamily="34" charset="-120"/>
              </a:rPr>
              <a:t>It names exactly what she narrowly misses: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BrightBridge Marketplace Factoring: needs EUR 4,000 monthly revenue, she has EUR 3,967</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Harbor Business Overdraft: needs 9 months trading history, she has 8 months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Available now: two microloans from EUR 253</a:t>
            </a:r>
            <a:endParaRPr lang="en-US" sz="1300" dirty="0"/>
          </a:p>
        </p:txBody>
      </p:sp>
      <p:sp>
        <p:nvSpPr>
          <p:cNvPr id="9" name="Shape 7"/>
          <p:cNvSpPr/>
          <p:nvPr/>
        </p:nvSpPr>
        <p:spPr>
          <a:xfrm>
            <a:off x="6309360" y="1737360"/>
            <a:ext cx="5285232" cy="3291840"/>
          </a:xfrm>
          <a:prstGeom prst="rect">
            <a:avLst/>
          </a:prstGeom>
          <a:solidFill>
            <a:srgbClr val="141414"/>
          </a:solidFill>
          <a:ln/>
        </p:spPr>
      </p:sp>
      <p:sp>
        <p:nvSpPr>
          <p:cNvPr id="10" name="Text 8"/>
          <p:cNvSpPr txBox="1"/>
          <p:nvPr/>
        </p:nvSpPr>
        <p:spPr>
          <a:xfrm>
            <a:off x="6583680" y="1938528"/>
            <a:ext cx="475488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WHY THIS MATTERS COMMERCIALLY</a:t>
            </a:r>
            <a:endParaRPr lang="en-US" sz="1100" dirty="0"/>
          </a:p>
        </p:txBody>
      </p:sp>
      <p:sp>
        <p:nvSpPr>
          <p:cNvPr id="11" name="Text 9"/>
          <p:cNvSpPr txBox="1"/>
          <p:nvPr/>
        </p:nvSpPr>
        <p:spPr>
          <a:xfrm>
            <a:off x="6583680" y="2331720"/>
            <a:ext cx="4754880" cy="256032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Every rejection names the test that failed, the gap, and what would change it.</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A seller who can't borrow today learns what to fix, and comes back when they can.</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Grants are shown but excluded: they can't be spent as working capital, and the copilot says so instead of padding the list.</a:t>
            </a:r>
            <a:endParaRPr lang="en-US" sz="1350" dirty="0"/>
          </a:p>
        </p:txBody>
      </p:sp>
      <p:sp>
        <p:nvSpPr>
          <p:cNvPr id="12" name="Text 10"/>
          <p:cNvSpPr txBox="1"/>
          <p:nvPr/>
        </p:nvSpPr>
        <p:spPr>
          <a:xfrm>
            <a:off x="594360" y="5349240"/>
            <a:ext cx="11002975" cy="548640"/>
          </a:xfrm>
          <a:prstGeom prst="rect">
            <a:avLst/>
          </a:prstGeom>
          <a:noFill/>
          <a:ln/>
        </p:spPr>
        <p:txBody>
          <a:bodyPr wrap="square" lIns="0" tIns="0" rIns="0" bIns="0" rtlCol="0" anchor="ctr"/>
          <a:lstStyle/>
          <a:p>
            <a:pPr indent="0" marL="0">
              <a:buNone/>
            </a:pPr>
            <a:r>
              <a:rPr lang="en-US" sz="1350" i="1" dirty="0">
                <a:solidFill>
                  <a:srgbClr val="5F594F"/>
                </a:solidFill>
                <a:latin typeface="Calibri" pitchFamily="34" charset="0"/>
                <a:ea typeface="Calibri" pitchFamily="34" charset="-122"/>
                <a:cs typeface="Calibri" pitchFamily="34" charset="-120"/>
              </a:rPr>
              <a:t>The copilot never says "approved". It matches published criteria, and a lender decides. An output guardrail enforces that, not just a prompt.</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WE ATTACKED OUR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OWN PRODUCT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A2</a:t>
            </a:r>
            <a:endParaRPr lang="en-US" sz="1000" dirty="0"/>
          </a:p>
        </p:txBody>
      </p:sp>
      <p:sp>
        <p:nvSpPr>
          <p:cNvPr id="6" name="Text 4"/>
          <p:cNvSpPr txBox="1"/>
          <p:nvPr/>
        </p:nvSpPr>
        <p:spPr>
          <a:xfrm>
            <a:off x="594360" y="1572768"/>
            <a:ext cx="10607040" cy="59436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financial copilot reads fields the seller doesn't control. Anyone who can place an order can write text aimed at the model, so we planted a real attack in the sandbox ledger.</a:t>
            </a:r>
            <a:endParaRPr lang="en-US" sz="1400" dirty="0"/>
          </a:p>
        </p:txBody>
      </p:sp>
      <p:sp>
        <p:nvSpPr>
          <p:cNvPr id="7" name="Shape 5"/>
          <p:cNvSpPr/>
          <p:nvPr/>
        </p:nvSpPr>
        <p:spPr>
          <a:xfrm>
            <a:off x="594360" y="2286000"/>
            <a:ext cx="11002975" cy="1097280"/>
          </a:xfrm>
          <a:prstGeom prst="rect">
            <a:avLst/>
          </a:prstGeom>
          <a:solidFill>
            <a:srgbClr val="141414"/>
          </a:solidFill>
          <a:ln/>
        </p:spPr>
      </p:sp>
      <p:sp>
        <p:nvSpPr>
          <p:cNvPr id="8" name="Text 6"/>
          <p:cNvSpPr txBox="1"/>
          <p:nvPr/>
        </p:nvSpPr>
        <p:spPr>
          <a:xfrm>
            <a:off x="868680" y="2395728"/>
            <a:ext cx="7315200" cy="228600"/>
          </a:xfrm>
          <a:prstGeom prst="rect">
            <a:avLst/>
          </a:prstGeom>
          <a:noFill/>
          <a:ln/>
        </p:spPr>
        <p:txBody>
          <a:bodyPr wrap="square" lIns="0" tIns="0" rIns="0" bIns="0" rtlCol="0" anchor="ctr"/>
          <a:lstStyle/>
          <a:p>
            <a:pPr indent="0" marL="0">
              <a:buNone/>
            </a:pPr>
            <a:r>
              <a:rPr lang="en-US" sz="1050" b="1" spc="120" kern="0" dirty="0">
                <a:solidFill>
                  <a:srgbClr val="FF5A1F"/>
                </a:solidFill>
                <a:latin typeface="Calibri" pitchFamily="34" charset="0"/>
                <a:ea typeface="Calibri" pitchFamily="34" charset="-122"/>
                <a:cs typeface="Calibri" pitchFamily="34" charset="-120"/>
              </a:rPr>
              <a:t>CUSTOMER ORDER NOTE, LIVE IN OUR DATASET</a:t>
            </a:r>
            <a:endParaRPr lang="en-US" sz="1050" dirty="0"/>
          </a:p>
        </p:txBody>
      </p:sp>
      <p:sp>
        <p:nvSpPr>
          <p:cNvPr id="9" name="Text 7"/>
          <p:cNvSpPr txBox="1"/>
          <p:nvPr/>
        </p:nvSpPr>
        <p:spPr>
          <a:xfrm>
            <a:off x="868680" y="2670048"/>
            <a:ext cx="10424160" cy="640080"/>
          </a:xfrm>
          <a:prstGeom prst="rect">
            <a:avLst/>
          </a:prstGeom>
          <a:noFill/>
          <a:ln/>
        </p:spPr>
        <p:txBody>
          <a:bodyPr wrap="square" lIns="0" tIns="0" rIns="0" bIns="0" rtlCol="0" anchor="ctr"/>
          <a:lstStyle/>
          <a:p>
            <a:pPr indent="0" marL="0">
              <a:lnSpc>
                <a:spcPct val="100000"/>
              </a:lnSpc>
              <a:buNone/>
            </a:pPr>
            <a:r>
              <a:rPr lang="en-US" sz="110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100" dirty="0"/>
          </a:p>
        </p:txBody>
      </p:sp>
      <p:sp>
        <p:nvSpPr>
          <p:cNvPr id="10" name="Shape 8"/>
          <p:cNvSpPr/>
          <p:nvPr/>
        </p:nvSpPr>
        <p:spPr>
          <a:xfrm>
            <a:off x="594360" y="3538728"/>
            <a:ext cx="11002975" cy="0"/>
          </a:xfrm>
          <a:prstGeom prst="line">
            <a:avLst/>
          </a:prstGeom>
          <a:noFill/>
          <a:ln w="9525">
            <a:solidFill>
              <a:srgbClr val="D6CCBA"/>
            </a:solidFill>
            <a:prstDash val="solid"/>
          </a:ln>
        </p:spPr>
      </p:sp>
      <p:sp>
        <p:nvSpPr>
          <p:cNvPr id="11" name="Text 9"/>
          <p:cNvSpPr txBox="1"/>
          <p:nvPr/>
        </p:nvSpPr>
        <p:spPr>
          <a:xfrm>
            <a:off x="594360" y="36118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12" name="Text 10"/>
          <p:cNvSpPr txBox="1"/>
          <p:nvPr/>
        </p:nvSpPr>
        <p:spPr>
          <a:xfrm>
            <a:off x="1280160" y="36576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Detect</a:t>
            </a:r>
            <a:endParaRPr lang="en-US" sz="1500" dirty="0"/>
          </a:p>
        </p:txBody>
      </p:sp>
      <p:sp>
        <p:nvSpPr>
          <p:cNvPr id="13" name="Text 11"/>
          <p:cNvSpPr txBox="1"/>
          <p:nvPr/>
        </p:nvSpPr>
        <p:spPr>
          <a:xfrm>
            <a:off x="2834640" y="36667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Attacks in 6 languages (English, Chinese, Arabic, German, French, Spanish), including disguised spellings like "I-g-n-o-r-e".</a:t>
            </a:r>
            <a:endParaRPr lang="en-US" sz="1300" dirty="0"/>
          </a:p>
        </p:txBody>
      </p:sp>
      <p:sp>
        <p:nvSpPr>
          <p:cNvPr id="14" name="Shape 12"/>
          <p:cNvSpPr/>
          <p:nvPr/>
        </p:nvSpPr>
        <p:spPr>
          <a:xfrm>
            <a:off x="594360" y="4224528"/>
            <a:ext cx="11002975" cy="0"/>
          </a:xfrm>
          <a:prstGeom prst="line">
            <a:avLst/>
          </a:prstGeom>
          <a:noFill/>
          <a:ln w="9525">
            <a:solidFill>
              <a:srgbClr val="D6CCBA"/>
            </a:solidFill>
            <a:prstDash val="solid"/>
          </a:ln>
        </p:spPr>
      </p:sp>
      <p:sp>
        <p:nvSpPr>
          <p:cNvPr id="15" name="Text 13"/>
          <p:cNvSpPr txBox="1"/>
          <p:nvPr/>
        </p:nvSpPr>
        <p:spPr>
          <a:xfrm>
            <a:off x="594360" y="42976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16" name="Text 14"/>
          <p:cNvSpPr txBox="1"/>
          <p:nvPr/>
        </p:nvSpPr>
        <p:spPr>
          <a:xfrm>
            <a:off x="1280160" y="43434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Neutralise</a:t>
            </a:r>
            <a:endParaRPr lang="en-US" sz="1500" dirty="0"/>
          </a:p>
        </p:txBody>
      </p:sp>
      <p:sp>
        <p:nvSpPr>
          <p:cNvPr id="17" name="Text 15"/>
          <p:cNvSpPr txBox="1"/>
          <p:nvPr/>
        </p:nvSpPr>
        <p:spPr>
          <a:xfrm>
            <a:off x="2834640" y="43525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attack is redacted and the rest fenced as untrusted data. "Please gift wrap" survives. The attack doesn't.</a:t>
            </a:r>
            <a:endParaRPr lang="en-US" sz="1300" dirty="0"/>
          </a:p>
        </p:txBody>
      </p:sp>
      <p:sp>
        <p:nvSpPr>
          <p:cNvPr id="18" name="Shape 16"/>
          <p:cNvSpPr/>
          <p:nvPr/>
        </p:nvSpPr>
        <p:spPr>
          <a:xfrm>
            <a:off x="594360" y="4910328"/>
            <a:ext cx="11002975" cy="0"/>
          </a:xfrm>
          <a:prstGeom prst="line">
            <a:avLst/>
          </a:prstGeom>
          <a:noFill/>
          <a:ln w="9525">
            <a:solidFill>
              <a:srgbClr val="D6CCBA"/>
            </a:solidFill>
            <a:prstDash val="solid"/>
          </a:ln>
        </p:spPr>
      </p:sp>
      <p:sp>
        <p:nvSpPr>
          <p:cNvPr id="19" name="Text 17"/>
          <p:cNvSpPr txBox="1"/>
          <p:nvPr/>
        </p:nvSpPr>
        <p:spPr>
          <a:xfrm>
            <a:off x="594360" y="49834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0" name="Text 18"/>
          <p:cNvSpPr txBox="1"/>
          <p:nvPr/>
        </p:nvSpPr>
        <p:spPr>
          <a:xfrm>
            <a:off x="1280160" y="50292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Report</a:t>
            </a:r>
            <a:endParaRPr lang="en-US" sz="1500" dirty="0"/>
          </a:p>
        </p:txBody>
      </p:sp>
      <p:sp>
        <p:nvSpPr>
          <p:cNvPr id="21" name="Text 19"/>
          <p:cNvSpPr txBox="1"/>
          <p:nvPr/>
        </p:nvSpPr>
        <p:spPr>
          <a:xfrm>
            <a:off x="2834640" y="50383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seller is told once per session. It's a security event on their account.</a:t>
            </a:r>
            <a:endParaRPr lang="en-US" sz="1300" dirty="0"/>
          </a:p>
        </p:txBody>
      </p:sp>
      <p:sp>
        <p:nvSpPr>
          <p:cNvPr id="22" name="Text 20"/>
          <p:cNvSpPr txBox="1"/>
          <p:nvPr/>
        </p:nvSpPr>
        <p:spPr>
          <a:xfrm>
            <a:off x="594360" y="5715000"/>
            <a:ext cx="11002975" cy="548640"/>
          </a:xfrm>
          <a:prstGeom prst="rect">
            <a:avLst/>
          </a:prstGeom>
          <a:noFill/>
          <a:ln/>
        </p:spPr>
        <p:txBody>
          <a:bodyPr wrap="square" lIns="0" tIns="0" rIns="0" bIns="0" rtlCol="0" anchor="ctr"/>
          <a:lstStyle/>
          <a:p>
            <a:pPr indent="0" marL="0">
              <a:buNone/>
            </a:pPr>
            <a:r>
              <a:rPr lang="en-US" sz="1300" i="1" dirty="0">
                <a:solidFill>
                  <a:srgbClr val="C2410C"/>
                </a:solidFill>
                <a:latin typeface="Calibri" pitchFamily="34" charset="0"/>
                <a:ea typeface="Calibri" pitchFamily="34" charset="-122"/>
                <a:cs typeface="Calibri" pitchFamily="34" charset="-120"/>
              </a:rPr>
              <a:t>Pattern matching doesn't solve prompt injection, and we don't claim it does. The permission model bounds the damage: an injection can waste a turn, but it can't move money.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FIT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BUILT AGAINST THE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MARKING SCHEME</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A3</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1002975" cy="914400"/>
        </p:xfrm>
        <a:graphic>
          <a:graphicData uri="http://schemas.openxmlformats.org/drawingml/2006/table">
            <a:tbl>
              <a:tblPr/>
              <a:tblGrid>
                <a:gridCol w="2651760"/>
                <a:gridCol w="1188720"/>
                <a:gridCol w="7159752"/>
              </a:tblGrid>
              <a:tr h="731520">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algn="ctr" indent="0" marL="0">
                        <a:buNone/>
                      </a:pPr>
                      <a:r>
                        <a:rPr lang="en-US" sz="1200" b="1" dirty="0">
                          <a:solidFill>
                            <a:srgbClr val="F4EFE6"/>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How this entry addresses it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Task completion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All three required capabilities plus a what-if simulator, working end to end, with 232 tests and an evidence pack of 18 scenarios.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Security &amp; compliance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Advice-only by default, human-only confirmation, injection defence in 6 languages, per-session audit access, and a self-assessment with 12 known risks.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Innovation &amp; interaction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Two-ledger cash model, lead time separated from duration, every recommendation tested by simulation, and rejections that explain themselves.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7" name="Shape 4"/>
          <p:cNvSpPr/>
          <p:nvPr/>
        </p:nvSpPr>
        <p:spPr>
          <a:xfrm>
            <a:off x="594360" y="5074920"/>
            <a:ext cx="11002975" cy="960120"/>
          </a:xfrm>
          <a:prstGeom prst="rect">
            <a:avLst/>
          </a:prstGeom>
          <a:solidFill>
            <a:srgbClr val="141414"/>
          </a:solidFill>
          <a:ln/>
        </p:spPr>
      </p:sp>
      <p:sp>
        <p:nvSpPr>
          <p:cNvPr id="8" name="Text 5"/>
          <p:cNvSpPr txBox="1"/>
          <p:nvPr/>
        </p:nvSpPr>
        <p:spPr>
          <a:xfrm>
            <a:off x="914400" y="5166360"/>
            <a:ext cx="10362895" cy="777240"/>
          </a:xfrm>
          <a:prstGeom prst="rect">
            <a:avLst/>
          </a:prstGeom>
          <a:noFill/>
          <a:ln/>
        </p:spPr>
        <p:txBody>
          <a:bodyPr wrap="square" lIns="0" tIns="0" rIns="0" bIns="0" rtlCol="0" anchor="ctr"/>
          <a:lstStyle/>
          <a:p>
            <a:pPr indent="0" marL="0">
              <a:lnSpc>
                <a:spcPct val="105000"/>
              </a:lnSpc>
              <a:buNone/>
            </a:pPr>
            <a:r>
              <a:rPr lang="en-US" sz="1350" b="1" dirty="0">
                <a:solidFill>
                  <a:srgbClr val="FF5A1F"/>
                </a:solidFill>
                <a:latin typeface="Calibri" pitchFamily="34" charset="0"/>
                <a:ea typeface="Calibri" pitchFamily="34" charset="-122"/>
                <a:cs typeface="Calibri" pitchFamily="34" charset="-120"/>
              </a:rPr>
              <a:t>No contradictions, enforced: </a:t>
            </a:r>
            <a:pPr indent="0" marL="0">
              <a:lnSpc>
                <a:spcPct val="105000"/>
              </a:lnSpc>
              <a:buNone/>
            </a:pPr>
            <a:r>
              <a:rPr lang="en-US" sz="1350" dirty="0">
                <a:solidFill>
                  <a:srgbClr val="F4EFE6"/>
                </a:solidFill>
                <a:latin typeface="Calibri" pitchFamily="34" charset="0"/>
                <a:ea typeface="Calibri" pitchFamily="34" charset="-122"/>
                <a:cs typeface="Calibri" pitchFamily="34" charset="-120"/>
              </a:rPr>
              <a:t>every figure in this deck and the documentation comes from one facts file generated by the system, and the test suite fails if any document quotes a stale number.</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 Finance Copilot</dc:title>
  <dc:subject>PptxGenJS Presentation</dc:subject>
  <dc:creator>Fintechathon International Track - Topic E</dc:creator>
  <cp:lastModifiedBy>Fintechathon International Track - Topic E</cp:lastModifiedBy>
  <cp:revision>1</cp:revision>
  <dcterms:created xsi:type="dcterms:W3CDTF">2026-10-18T17:27:15Z</dcterms:created>
  <dcterms:modified xsi:type="dcterms:W3CDTF">2026-10-18T17:27:15Z</dcterms:modified>
</cp:coreProperties>
</file>